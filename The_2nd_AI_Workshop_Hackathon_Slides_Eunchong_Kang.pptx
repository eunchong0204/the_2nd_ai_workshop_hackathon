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5133" autoAdjust="0"/>
  </p:normalViewPr>
  <p:slideViewPr>
    <p:cSldViewPr snapToGrid="0" snapToObjects="1">
      <p:cViewPr varScale="1">
        <p:scale>
          <a:sx n="81" d="100"/>
          <a:sy n="81" d="100"/>
        </p:scale>
        <p:origin x="732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75177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MGPS: Multi-Item Gamma Poisson Shrinker</a:t>
            </a:r>
          </a:p>
          <a:p>
            <a:r>
              <a:rPr lang="en-US" sz="1200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EB05: </a:t>
            </a:r>
            <a:r>
              <a:rPr lang="en-US" dirty="0"/>
              <a:t>5th percentile of the posterior distribution of the EBGM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SPL: Structured Product Labeling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mp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21792"/>
            <a:ext cx="11201400" cy="0"/>
          </a:xfrm>
          <a:prstGeom prst="line">
            <a:avLst/>
          </a:prstGeom>
          <a:noFill/>
          <a:ln w="13970">
            <a:solidFill>
              <a:srgbClr val="2B5C8A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77777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77777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777240"/>
            <a:ext cx="10927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1111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LLM-assisted pharmacovigilance pipeline for</a:t>
            </a:r>
            <a:endParaRPr lang="en-US" sz="2700" dirty="0"/>
          </a:p>
          <a:p>
            <a:pPr marL="0" indent="0">
              <a:buNone/>
            </a:pPr>
            <a:r>
              <a:rPr lang="en-US" sz="2700" b="1" dirty="0">
                <a:solidFill>
                  <a:srgbClr val="11111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prioritizing potentially unlabeled adverse drug reactions from FAERS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85800" y="2212848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520" dirty="0">
                <a:solidFill>
                  <a:srgbClr val="2B5C8A"/>
                </a:solidFill>
              </a:rPr>
              <a:t>Hackathon Project for the 2nd AI Workshop NYC</a:t>
            </a:r>
            <a:endParaRPr lang="en-US" sz="1520" dirty="0"/>
          </a:p>
        </p:txBody>
      </p:sp>
      <p:sp>
        <p:nvSpPr>
          <p:cNvPr id="4" name="Shape 2"/>
          <p:cNvSpPr/>
          <p:nvPr/>
        </p:nvSpPr>
        <p:spPr>
          <a:xfrm>
            <a:off x="685800" y="2788920"/>
            <a:ext cx="10835640" cy="0"/>
          </a:xfrm>
          <a:prstGeom prst="line">
            <a:avLst/>
          </a:prstGeom>
          <a:noFill/>
          <a:ln w="12700">
            <a:solidFill>
              <a:srgbClr val="BFC7C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3127248"/>
            <a:ext cx="150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B5C8A"/>
                </a:solidFill>
              </a:rPr>
              <a:t>Presenter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31520" y="340156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50" b="1" dirty="0">
                <a:solidFill>
                  <a:srgbClr val="11111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Eunchong Kang </a:t>
            </a:r>
            <a:endParaRPr lang="en-US" sz="2050" dirty="0"/>
          </a:p>
        </p:txBody>
      </p:sp>
      <p:sp>
        <p:nvSpPr>
          <p:cNvPr id="8" name="Text 6"/>
          <p:cNvSpPr/>
          <p:nvPr/>
        </p:nvSpPr>
        <p:spPr>
          <a:xfrm>
            <a:off x="731520" y="4006591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/>
              <a:t>Ph.D. Candidate, Department of Biostatistics</a:t>
            </a:r>
          </a:p>
        </p:txBody>
      </p:sp>
      <p:sp>
        <p:nvSpPr>
          <p:cNvPr id="10" name="Text 8"/>
          <p:cNvSpPr/>
          <p:nvPr/>
        </p:nvSpPr>
        <p:spPr>
          <a:xfrm>
            <a:off x="731520" y="4411496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111111"/>
                </a:solidFill>
              </a:rPr>
              <a:t>The University of North Carolina at Chapel Hill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77777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</a:t>
            </a:fld>
            <a:endParaRPr lang="en-US"/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2E8FB505-6C8A-8EAB-8DB1-A0CEFD7A1460}"/>
              </a:ext>
            </a:extLst>
          </p:cNvPr>
          <p:cNvGrpSpPr/>
          <p:nvPr/>
        </p:nvGrpSpPr>
        <p:grpSpPr>
          <a:xfrm>
            <a:off x="5225069" y="3063244"/>
            <a:ext cx="3542003" cy="3192930"/>
            <a:chOff x="5225069" y="3063244"/>
            <a:chExt cx="3542003" cy="3192930"/>
          </a:xfrm>
        </p:grpSpPr>
        <p:sp>
          <p:nvSpPr>
            <p:cNvPr id="15" name="Text 3">
              <a:extLst>
                <a:ext uri="{FF2B5EF4-FFF2-40B4-BE49-F238E27FC236}">
                  <a16:creationId xmlns:a16="http://schemas.microsoft.com/office/drawing/2014/main" id="{DB5B5CCA-7BE4-B1C2-3165-3ECE49985129}"/>
                </a:ext>
              </a:extLst>
            </p:cNvPr>
            <p:cNvSpPr/>
            <p:nvPr/>
          </p:nvSpPr>
          <p:spPr>
            <a:xfrm>
              <a:off x="5225070" y="3063244"/>
              <a:ext cx="3542002" cy="461768"/>
            </a:xfrm>
            <a:prstGeom prst="rect">
              <a:avLst/>
            </a:prstGeom>
            <a:solidFill>
              <a:srgbClr val="F6F8FA"/>
            </a:solidFill>
            <a:ln w="9525">
              <a:solidFill>
                <a:srgbClr val="BFC7CF"/>
              </a:solidFill>
            </a:ln>
          </p:spPr>
          <p:txBody>
            <a:bodyPr wrap="square" lIns="762" tIns="762" rIns="762" bIns="762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111111"/>
                  </a:solidFill>
                  <a:latin typeface="Aptos" pitchFamily="34" charset="0"/>
                  <a:ea typeface="Aptos" pitchFamily="34" charset="-122"/>
                  <a:cs typeface="Aptos" pitchFamily="34" charset="-120"/>
                </a:rPr>
                <a:t>Step 0: FAERS reports</a:t>
              </a:r>
              <a:endParaRPr lang="en-US" sz="1050" dirty="0"/>
            </a:p>
          </p:txBody>
        </p:sp>
        <p:sp>
          <p:nvSpPr>
            <p:cNvPr id="19" name="Text 5">
              <a:extLst>
                <a:ext uri="{FF2B5EF4-FFF2-40B4-BE49-F238E27FC236}">
                  <a16:creationId xmlns:a16="http://schemas.microsoft.com/office/drawing/2014/main" id="{B1D91383-40C9-1CC9-DC19-3F4795F47602}"/>
                </a:ext>
              </a:extLst>
            </p:cNvPr>
            <p:cNvSpPr/>
            <p:nvPr/>
          </p:nvSpPr>
          <p:spPr>
            <a:xfrm>
              <a:off x="5225069" y="3745567"/>
              <a:ext cx="3542003" cy="461769"/>
            </a:xfrm>
            <a:prstGeom prst="rect">
              <a:avLst/>
            </a:prstGeom>
            <a:solidFill>
              <a:srgbClr val="EAF2F8"/>
            </a:solidFill>
            <a:ln w="9525">
              <a:solidFill>
                <a:srgbClr val="BFC7CF"/>
              </a:solidFill>
            </a:ln>
          </p:spPr>
          <p:txBody>
            <a:bodyPr wrap="square" lIns="762" tIns="762" rIns="762" bIns="762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111111"/>
                  </a:solidFill>
                  <a:latin typeface="Aptos" pitchFamily="34" charset="0"/>
                  <a:ea typeface="Aptos" pitchFamily="34" charset="-122"/>
                  <a:cs typeface="Aptos" pitchFamily="34" charset="-120"/>
                </a:rPr>
                <a:t>Step 1: Statistical EBGM signals</a:t>
              </a:r>
              <a:endParaRPr lang="en-US" sz="1050" dirty="0"/>
            </a:p>
          </p:txBody>
        </p:sp>
        <p:sp>
          <p:nvSpPr>
            <p:cNvPr id="23" name="Text 7">
              <a:extLst>
                <a:ext uri="{FF2B5EF4-FFF2-40B4-BE49-F238E27FC236}">
                  <a16:creationId xmlns:a16="http://schemas.microsoft.com/office/drawing/2014/main" id="{01F9687A-0BAA-409E-D2A6-AA69BE807B9F}"/>
                </a:ext>
              </a:extLst>
            </p:cNvPr>
            <p:cNvSpPr/>
            <p:nvPr/>
          </p:nvSpPr>
          <p:spPr>
            <a:xfrm>
              <a:off x="5225069" y="4432090"/>
              <a:ext cx="3542001" cy="461770"/>
            </a:xfrm>
            <a:prstGeom prst="rect">
              <a:avLst/>
            </a:prstGeom>
            <a:solidFill>
              <a:srgbClr val="F0EEF8"/>
            </a:solidFill>
            <a:ln w="9525">
              <a:solidFill>
                <a:srgbClr val="BFC7CF"/>
              </a:solidFill>
            </a:ln>
          </p:spPr>
          <p:txBody>
            <a:bodyPr wrap="square" lIns="762" tIns="762" rIns="762" bIns="762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111111"/>
                  </a:solidFill>
                  <a:latin typeface="Aptos" pitchFamily="34" charset="0"/>
                  <a:ea typeface="Aptos" pitchFamily="34" charset="-122"/>
                  <a:cs typeface="Aptos" pitchFamily="34" charset="-120"/>
                </a:rPr>
                <a:t>Step 2: LLM PT triage</a:t>
              </a:r>
              <a:endParaRPr lang="en-US" sz="1050" dirty="0"/>
            </a:p>
          </p:txBody>
        </p:sp>
        <p:sp>
          <p:nvSpPr>
            <p:cNvPr id="28" name="Text 9">
              <a:extLst>
                <a:ext uri="{FF2B5EF4-FFF2-40B4-BE49-F238E27FC236}">
                  <a16:creationId xmlns:a16="http://schemas.microsoft.com/office/drawing/2014/main" id="{3828C2C1-25DE-4597-75F2-5B5386705220}"/>
                </a:ext>
              </a:extLst>
            </p:cNvPr>
            <p:cNvSpPr/>
            <p:nvPr/>
          </p:nvSpPr>
          <p:spPr>
            <a:xfrm>
              <a:off x="5225070" y="5113247"/>
              <a:ext cx="3542001" cy="461770"/>
            </a:xfrm>
            <a:prstGeom prst="rect">
              <a:avLst/>
            </a:prstGeom>
            <a:solidFill>
              <a:srgbClr val="F8EFEA"/>
            </a:solidFill>
            <a:ln w="9525">
              <a:solidFill>
                <a:srgbClr val="BFC7CF"/>
              </a:solidFill>
            </a:ln>
          </p:spPr>
          <p:txBody>
            <a:bodyPr wrap="square" lIns="762" tIns="762" rIns="762" bIns="762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111111"/>
                  </a:solidFill>
                  <a:latin typeface="Aptos" pitchFamily="34" charset="0"/>
                  <a:ea typeface="Aptos" pitchFamily="34" charset="-122"/>
                  <a:cs typeface="Aptos" pitchFamily="34" charset="-120"/>
                </a:rPr>
                <a:t>Step 3: LLM label comparison</a:t>
              </a:r>
              <a:endParaRPr lang="en-US" sz="1050" dirty="0"/>
            </a:p>
          </p:txBody>
        </p:sp>
        <p:sp>
          <p:nvSpPr>
            <p:cNvPr id="30" name="Text 10">
              <a:extLst>
                <a:ext uri="{FF2B5EF4-FFF2-40B4-BE49-F238E27FC236}">
                  <a16:creationId xmlns:a16="http://schemas.microsoft.com/office/drawing/2014/main" id="{17327532-E504-D73D-2FCE-4D96E32B96F8}"/>
                </a:ext>
              </a:extLst>
            </p:cNvPr>
            <p:cNvSpPr/>
            <p:nvPr/>
          </p:nvSpPr>
          <p:spPr>
            <a:xfrm rot="5400000">
              <a:off x="6881769" y="3518890"/>
              <a:ext cx="2286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dirty="0">
                  <a:solidFill>
                    <a:srgbClr val="666666"/>
                  </a:solidFill>
                </a:rPr>
                <a:t>→</a:t>
              </a:r>
              <a:endParaRPr lang="en-US" sz="1600" dirty="0"/>
            </a:p>
          </p:txBody>
        </p:sp>
        <p:sp>
          <p:nvSpPr>
            <p:cNvPr id="32" name="Text 11">
              <a:extLst>
                <a:ext uri="{FF2B5EF4-FFF2-40B4-BE49-F238E27FC236}">
                  <a16:creationId xmlns:a16="http://schemas.microsoft.com/office/drawing/2014/main" id="{4BE62523-57A9-5A36-E60F-54AA67B1997E}"/>
                </a:ext>
              </a:extLst>
            </p:cNvPr>
            <p:cNvSpPr/>
            <p:nvPr/>
          </p:nvSpPr>
          <p:spPr>
            <a:xfrm>
              <a:off x="5225071" y="5794404"/>
              <a:ext cx="3542001" cy="461770"/>
            </a:xfrm>
            <a:prstGeom prst="rect">
              <a:avLst/>
            </a:prstGeom>
            <a:solidFill>
              <a:srgbClr val="EAF4EF"/>
            </a:solidFill>
            <a:ln w="9525">
              <a:solidFill>
                <a:srgbClr val="BFC7CF"/>
              </a:solidFill>
            </a:ln>
          </p:spPr>
          <p:txBody>
            <a:bodyPr wrap="square" lIns="762" tIns="762" rIns="762" bIns="762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111111"/>
                  </a:solidFill>
                  <a:latin typeface="Aptos" pitchFamily="34" charset="0"/>
                  <a:ea typeface="Aptos" pitchFamily="34" charset="-122"/>
                  <a:cs typeface="Aptos" pitchFamily="34" charset="-120"/>
                </a:rPr>
                <a:t>Step 4: Prioritized novel ADRs</a:t>
              </a:r>
              <a:endParaRPr lang="en-US" sz="1050" dirty="0"/>
            </a:p>
          </p:txBody>
        </p:sp>
        <p:sp>
          <p:nvSpPr>
            <p:cNvPr id="34" name="Text 10">
              <a:extLst>
                <a:ext uri="{FF2B5EF4-FFF2-40B4-BE49-F238E27FC236}">
                  <a16:creationId xmlns:a16="http://schemas.microsoft.com/office/drawing/2014/main" id="{1A9DC7C8-DC57-6D38-3203-A39FA7BCCAFD}"/>
                </a:ext>
              </a:extLst>
            </p:cNvPr>
            <p:cNvSpPr/>
            <p:nvPr/>
          </p:nvSpPr>
          <p:spPr>
            <a:xfrm rot="5400000">
              <a:off x="6881769" y="4212703"/>
              <a:ext cx="2286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dirty="0">
                  <a:solidFill>
                    <a:srgbClr val="666666"/>
                  </a:solidFill>
                </a:rPr>
                <a:t>→</a:t>
              </a:r>
              <a:endParaRPr lang="en-US" sz="1600" dirty="0"/>
            </a:p>
          </p:txBody>
        </p:sp>
        <p:sp>
          <p:nvSpPr>
            <p:cNvPr id="36" name="Text 10">
              <a:extLst>
                <a:ext uri="{FF2B5EF4-FFF2-40B4-BE49-F238E27FC236}">
                  <a16:creationId xmlns:a16="http://schemas.microsoft.com/office/drawing/2014/main" id="{E1F3FB1D-14D9-93C5-B33C-5C4822B29801}"/>
                </a:ext>
              </a:extLst>
            </p:cNvPr>
            <p:cNvSpPr/>
            <p:nvPr/>
          </p:nvSpPr>
          <p:spPr>
            <a:xfrm rot="5400000">
              <a:off x="6881769" y="4900732"/>
              <a:ext cx="2286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dirty="0">
                  <a:solidFill>
                    <a:srgbClr val="666666"/>
                  </a:solidFill>
                </a:rPr>
                <a:t>→</a:t>
              </a:r>
              <a:endParaRPr lang="en-US" sz="1600" dirty="0"/>
            </a:p>
          </p:txBody>
        </p:sp>
        <p:sp>
          <p:nvSpPr>
            <p:cNvPr id="38" name="Text 10">
              <a:extLst>
                <a:ext uri="{FF2B5EF4-FFF2-40B4-BE49-F238E27FC236}">
                  <a16:creationId xmlns:a16="http://schemas.microsoft.com/office/drawing/2014/main" id="{80B55306-3C3B-B8BB-2EC5-CF5F4388BC96}"/>
                </a:ext>
              </a:extLst>
            </p:cNvPr>
            <p:cNvSpPr/>
            <p:nvPr/>
          </p:nvSpPr>
          <p:spPr>
            <a:xfrm rot="5400000">
              <a:off x="6881769" y="5575017"/>
              <a:ext cx="2286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dirty="0">
                  <a:solidFill>
                    <a:srgbClr val="666666"/>
                  </a:solidFill>
                </a:rPr>
                <a:t>→</a:t>
              </a:r>
              <a:endParaRPr lang="en-US" sz="1600" dirty="0"/>
            </a:p>
          </p:txBody>
        </p:sp>
      </p:grpSp>
      <p:sp>
        <p:nvSpPr>
          <p:cNvPr id="43" name="Text 12">
            <a:extLst>
              <a:ext uri="{FF2B5EF4-FFF2-40B4-BE49-F238E27FC236}">
                <a16:creationId xmlns:a16="http://schemas.microsoft.com/office/drawing/2014/main" id="{5DE50656-A63E-C37F-D81B-728BA0ACBF5F}"/>
              </a:ext>
            </a:extLst>
          </p:cNvPr>
          <p:cNvSpPr/>
          <p:nvPr/>
        </p:nvSpPr>
        <p:spPr>
          <a:xfrm>
            <a:off x="9334479" y="3300985"/>
            <a:ext cx="2571100" cy="1181618"/>
          </a:xfrm>
          <a:prstGeom prst="rect">
            <a:avLst/>
          </a:prstGeom>
          <a:solidFill>
            <a:srgbClr val="FFFFFF"/>
          </a:solidFill>
          <a:ln w="9525">
            <a:solidFill>
              <a:srgbClr val="BFC7CF"/>
            </a:solidFill>
          </a:ln>
        </p:spPr>
        <p:txBody>
          <a:bodyPr wrap="square" lIns="1016" tIns="1016" rIns="1016" bIns="1016" rtlCol="0" anchor="ctr">
            <a:normAutofit fontScale="9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600" dirty="0"/>
              <a:t>Challenge: Disproportionality analysis generates many drug–event signals, but reviewers need a </a:t>
            </a:r>
            <a:r>
              <a:rPr lang="en-US" sz="1600" dirty="0">
                <a:solidFill>
                  <a:srgbClr val="FF0000"/>
                </a:solidFill>
              </a:rPr>
              <a:t>prioritized</a:t>
            </a:r>
            <a:r>
              <a:rPr lang="en-US" sz="1600" dirty="0"/>
              <a:t> set of </a:t>
            </a:r>
            <a:r>
              <a:rPr lang="en-US" sz="1600" dirty="0">
                <a:solidFill>
                  <a:srgbClr val="FF0000"/>
                </a:solidFill>
              </a:rPr>
              <a:t>plausible</a:t>
            </a:r>
            <a:r>
              <a:rPr lang="en-US" sz="1600" dirty="0"/>
              <a:t> </a:t>
            </a:r>
            <a:r>
              <a:rPr lang="en-US" sz="1600" dirty="0">
                <a:solidFill>
                  <a:srgbClr val="FF0000"/>
                </a:solidFill>
              </a:rPr>
              <a:t>unlabeled</a:t>
            </a:r>
            <a:r>
              <a:rPr lang="en-US" sz="1600" dirty="0"/>
              <a:t> ADRs.</a:t>
            </a:r>
          </a:p>
        </p:txBody>
      </p:sp>
      <p:sp>
        <p:nvSpPr>
          <p:cNvPr id="50" name="Text 12">
            <a:extLst>
              <a:ext uri="{FF2B5EF4-FFF2-40B4-BE49-F238E27FC236}">
                <a16:creationId xmlns:a16="http://schemas.microsoft.com/office/drawing/2014/main" id="{2F0A4A9E-25A7-35DD-CB56-09E8F2755FFD}"/>
              </a:ext>
            </a:extLst>
          </p:cNvPr>
          <p:cNvSpPr/>
          <p:nvPr/>
        </p:nvSpPr>
        <p:spPr>
          <a:xfrm>
            <a:off x="9334479" y="5061203"/>
            <a:ext cx="2571100" cy="667513"/>
          </a:xfrm>
          <a:prstGeom prst="rect">
            <a:avLst/>
          </a:prstGeom>
          <a:solidFill>
            <a:srgbClr val="FFFFFF"/>
          </a:solidFill>
          <a:ln w="9525">
            <a:solidFill>
              <a:srgbClr val="BFC7CF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500" dirty="0"/>
              <a:t>LLM-assisted post-statistical analysis</a:t>
            </a: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A3035714-32D1-B3D2-A15E-80A77F06AEDA}"/>
              </a:ext>
            </a:extLst>
          </p:cNvPr>
          <p:cNvCxnSpPr>
            <a:cxnSpLocks/>
          </p:cNvCxnSpPr>
          <p:nvPr/>
        </p:nvCxnSpPr>
        <p:spPr>
          <a:xfrm>
            <a:off x="8882157" y="3976450"/>
            <a:ext cx="33723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Right Bracket 68">
            <a:extLst>
              <a:ext uri="{FF2B5EF4-FFF2-40B4-BE49-F238E27FC236}">
                <a16:creationId xmlns:a16="http://schemas.microsoft.com/office/drawing/2014/main" id="{B400AFFC-FFB4-94F9-2F2A-3784C17339C9}"/>
              </a:ext>
            </a:extLst>
          </p:cNvPr>
          <p:cNvSpPr/>
          <p:nvPr/>
        </p:nvSpPr>
        <p:spPr>
          <a:xfrm>
            <a:off x="8882157" y="4581144"/>
            <a:ext cx="133524" cy="1499610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A3B1A7EA-3694-A30C-F06F-DE26A7A4B5B6}"/>
              </a:ext>
            </a:extLst>
          </p:cNvPr>
          <p:cNvCxnSpPr>
            <a:cxnSpLocks/>
          </p:cNvCxnSpPr>
          <p:nvPr/>
        </p:nvCxnSpPr>
        <p:spPr>
          <a:xfrm>
            <a:off x="9009119" y="5328256"/>
            <a:ext cx="21027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1111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Background, Dataset, and Unit of analysis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86384" y="904409"/>
            <a:ext cx="427115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B5C8A"/>
                </a:solidFill>
              </a:rPr>
              <a:t>Source Data: The FDA Adverse Event Reporting System (FAERS) quarterly data in 2024Q1–2026Q1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94360" y="1591056"/>
            <a:ext cx="5486400" cy="1640141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400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Each FAERS report lists suspect active ingredients (drugs) and adverse event as MedDRA Preferred Terms (</a:t>
            </a:r>
            <a:r>
              <a:rPr lang="en-US" sz="1400" dirty="0" err="1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PTs.</a:t>
            </a:r>
            <a:r>
              <a:rPr lang="en-US" sz="1400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)</a:t>
            </a:r>
          </a:p>
          <a:p>
            <a:endParaRPr lang="en-US" sz="1400" dirty="0">
              <a:solidFill>
                <a:srgbClr val="111111"/>
              </a:solidFill>
              <a:latin typeface="Aptos" pitchFamily="34" charset="0"/>
              <a:ea typeface="Aptos" pitchFamily="34" charset="-122"/>
              <a:cs typeface="Aptos" pitchFamily="34" charset="-120"/>
            </a:endParaRPr>
          </a:p>
          <a:p>
            <a:r>
              <a:rPr lang="en-US" sz="1400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The unit of analysis: </a:t>
            </a:r>
            <a:r>
              <a:rPr lang="en-US" sz="1400" dirty="0">
                <a:solidFill>
                  <a:srgbClr val="FF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drug-PT pair</a:t>
            </a:r>
            <a:r>
              <a:rPr lang="en-US" sz="1400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</a:t>
            </a:r>
          </a:p>
          <a:p>
            <a:endParaRPr lang="en-US" sz="1400" dirty="0">
              <a:solidFill>
                <a:srgbClr val="111111"/>
              </a:solidFill>
              <a:latin typeface="Aptos" pitchFamily="34" charset="0"/>
              <a:ea typeface="Aptos" pitchFamily="34" charset="-122"/>
              <a:cs typeface="Aptos" pitchFamily="34" charset="-120"/>
            </a:endParaRPr>
          </a:p>
          <a:p>
            <a:r>
              <a:rPr lang="en-US" sz="1400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Disproportionality analysis tests whether a drug–PT pair is reported more often than expected.</a:t>
            </a:r>
          </a:p>
          <a:p>
            <a:endParaRPr lang="en-US" sz="1380" dirty="0">
              <a:solidFill>
                <a:srgbClr val="111111"/>
              </a:solidFill>
              <a:latin typeface="Aptos" pitchFamily="34" charset="0"/>
              <a:ea typeface="Aptos" pitchFamily="34" charset="-122"/>
              <a:cs typeface="Aptos" pitchFamily="34" charset="-120"/>
            </a:endParaRPr>
          </a:p>
        </p:txBody>
      </p:sp>
      <p:pic>
        <p:nvPicPr>
          <p:cNvPr id="18" name="Image 0" descr="/mnt/data/nb_assets/cell4_out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9504" y="3330733"/>
            <a:ext cx="9198407" cy="283464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4247361" y="6165373"/>
            <a:ext cx="7446317" cy="2994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02920" y="6464808"/>
            <a:ext cx="5303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888888"/>
                </a:solidFill>
              </a:rPr>
              <a:t>AIWSNYC Hackathon | FAERS signal detection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77777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  <p:sp>
        <p:nvSpPr>
          <p:cNvPr id="24" name="Text 4">
            <a:extLst>
              <a:ext uri="{FF2B5EF4-FFF2-40B4-BE49-F238E27FC236}">
                <a16:creationId xmlns:a16="http://schemas.microsoft.com/office/drawing/2014/main" id="{70AD4D19-4465-8CAB-C8C7-2EBC41FC4471}"/>
              </a:ext>
            </a:extLst>
          </p:cNvPr>
          <p:cNvSpPr/>
          <p:nvPr/>
        </p:nvSpPr>
        <p:spPr>
          <a:xfrm>
            <a:off x="6634793" y="1312210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2B5C8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3.15M</a:t>
            </a:r>
            <a:endParaRPr lang="en-US" sz="2300" dirty="0"/>
          </a:p>
        </p:txBody>
      </p:sp>
      <p:sp>
        <p:nvSpPr>
          <p:cNvPr id="27" name="Text 5">
            <a:extLst>
              <a:ext uri="{FF2B5EF4-FFF2-40B4-BE49-F238E27FC236}">
                <a16:creationId xmlns:a16="http://schemas.microsoft.com/office/drawing/2014/main" id="{BA6CBF2D-7AA8-1F6B-B953-9B2CAB3696BC}"/>
              </a:ext>
            </a:extLst>
          </p:cNvPr>
          <p:cNvSpPr/>
          <p:nvPr/>
        </p:nvSpPr>
        <p:spPr>
          <a:xfrm>
            <a:off x="6634793" y="1668826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666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unique FAERS reports</a:t>
            </a:r>
            <a:endParaRPr lang="en-US" sz="950" dirty="0"/>
          </a:p>
        </p:txBody>
      </p:sp>
      <p:sp>
        <p:nvSpPr>
          <p:cNvPr id="29" name="Text 6">
            <a:extLst>
              <a:ext uri="{FF2B5EF4-FFF2-40B4-BE49-F238E27FC236}">
                <a16:creationId xmlns:a16="http://schemas.microsoft.com/office/drawing/2014/main" id="{749A1D76-8A0E-D2BC-CB67-8CB26E550278}"/>
              </a:ext>
            </a:extLst>
          </p:cNvPr>
          <p:cNvSpPr/>
          <p:nvPr/>
        </p:nvSpPr>
        <p:spPr>
          <a:xfrm>
            <a:off x="7970520" y="130013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2B5C8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14.76M</a:t>
            </a:r>
            <a:endParaRPr lang="en-US" sz="2300" dirty="0"/>
          </a:p>
        </p:txBody>
      </p:sp>
      <p:sp>
        <p:nvSpPr>
          <p:cNvPr id="31" name="Text 7">
            <a:extLst>
              <a:ext uri="{FF2B5EF4-FFF2-40B4-BE49-F238E27FC236}">
                <a16:creationId xmlns:a16="http://schemas.microsoft.com/office/drawing/2014/main" id="{79736635-9830-E098-1C11-88021FF5E69C}"/>
              </a:ext>
            </a:extLst>
          </p:cNvPr>
          <p:cNvSpPr/>
          <p:nvPr/>
        </p:nvSpPr>
        <p:spPr>
          <a:xfrm>
            <a:off x="7970520" y="1656746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666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report–drug–PT rows</a:t>
            </a:r>
            <a:endParaRPr lang="en-US" sz="950" dirty="0"/>
          </a:p>
        </p:txBody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D5864886-8BD5-5F23-F5C9-64FE7BF1ABC7}"/>
              </a:ext>
            </a:extLst>
          </p:cNvPr>
          <p:cNvSpPr/>
          <p:nvPr/>
        </p:nvSpPr>
        <p:spPr>
          <a:xfrm>
            <a:off x="9387840" y="131221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2B5C8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1.62M</a:t>
            </a:r>
            <a:endParaRPr lang="en-US" sz="2300" dirty="0"/>
          </a:p>
        </p:txBody>
      </p:sp>
      <p:sp>
        <p:nvSpPr>
          <p:cNvPr id="35" name="Text 9">
            <a:extLst>
              <a:ext uri="{FF2B5EF4-FFF2-40B4-BE49-F238E27FC236}">
                <a16:creationId xmlns:a16="http://schemas.microsoft.com/office/drawing/2014/main" id="{2895FA8E-71C1-BF1B-D5DB-2969AEA10A94}"/>
              </a:ext>
            </a:extLst>
          </p:cNvPr>
          <p:cNvSpPr/>
          <p:nvPr/>
        </p:nvSpPr>
        <p:spPr>
          <a:xfrm>
            <a:off x="9387840" y="166882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666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unique drug–PT pairs</a:t>
            </a:r>
            <a:endParaRPr lang="en-US" sz="950" dirty="0"/>
          </a:p>
        </p:txBody>
      </p:sp>
      <p:sp>
        <p:nvSpPr>
          <p:cNvPr id="37" name="Text 10">
            <a:extLst>
              <a:ext uri="{FF2B5EF4-FFF2-40B4-BE49-F238E27FC236}">
                <a16:creationId xmlns:a16="http://schemas.microsoft.com/office/drawing/2014/main" id="{6F851589-ECBA-E8C0-D43C-57250ED97A06}"/>
              </a:ext>
            </a:extLst>
          </p:cNvPr>
          <p:cNvSpPr/>
          <p:nvPr/>
        </p:nvSpPr>
        <p:spPr>
          <a:xfrm>
            <a:off x="7542333" y="216808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66666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7,655</a:t>
            </a:r>
            <a:endParaRPr lang="en-US" sz="2300" dirty="0"/>
          </a:p>
        </p:txBody>
      </p:sp>
      <p:sp>
        <p:nvSpPr>
          <p:cNvPr id="39" name="Text 11">
            <a:extLst>
              <a:ext uri="{FF2B5EF4-FFF2-40B4-BE49-F238E27FC236}">
                <a16:creationId xmlns:a16="http://schemas.microsoft.com/office/drawing/2014/main" id="{4CAC45D8-6B48-CB06-6B45-82980B9ECD99}"/>
              </a:ext>
            </a:extLst>
          </p:cNvPr>
          <p:cNvSpPr/>
          <p:nvPr/>
        </p:nvSpPr>
        <p:spPr>
          <a:xfrm>
            <a:off x="7542333" y="2524698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666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drugs</a:t>
            </a:r>
            <a:endParaRPr lang="en-US" sz="950" dirty="0"/>
          </a:p>
        </p:txBody>
      </p:sp>
      <p:sp>
        <p:nvSpPr>
          <p:cNvPr id="41" name="Text 12">
            <a:extLst>
              <a:ext uri="{FF2B5EF4-FFF2-40B4-BE49-F238E27FC236}">
                <a16:creationId xmlns:a16="http://schemas.microsoft.com/office/drawing/2014/main" id="{ADF02D8B-DF77-DBE4-C6A2-2705FEEC2111}"/>
              </a:ext>
            </a:extLst>
          </p:cNvPr>
          <p:cNvSpPr/>
          <p:nvPr/>
        </p:nvSpPr>
        <p:spPr>
          <a:xfrm>
            <a:off x="8953500" y="2150626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66666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18,838</a:t>
            </a:r>
            <a:endParaRPr lang="en-US" sz="2300" dirty="0"/>
          </a:p>
        </p:txBody>
      </p:sp>
      <p:sp>
        <p:nvSpPr>
          <p:cNvPr id="43" name="Text 13">
            <a:extLst>
              <a:ext uri="{FF2B5EF4-FFF2-40B4-BE49-F238E27FC236}">
                <a16:creationId xmlns:a16="http://schemas.microsoft.com/office/drawing/2014/main" id="{D8FFC8CD-2093-C09F-15CC-23964395A747}"/>
              </a:ext>
            </a:extLst>
          </p:cNvPr>
          <p:cNvSpPr/>
          <p:nvPr/>
        </p:nvSpPr>
        <p:spPr>
          <a:xfrm>
            <a:off x="8953500" y="250724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666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PTs</a:t>
            </a:r>
            <a:endParaRPr lang="en-US" sz="950" dirty="0"/>
          </a:p>
        </p:txBody>
      </p:sp>
      <p:sp>
        <p:nvSpPr>
          <p:cNvPr id="53" name="Text 16">
            <a:extLst>
              <a:ext uri="{FF2B5EF4-FFF2-40B4-BE49-F238E27FC236}">
                <a16:creationId xmlns:a16="http://schemas.microsoft.com/office/drawing/2014/main" id="{055F5C35-1CE4-4968-40FF-A2FBBDCB1E9B}"/>
              </a:ext>
            </a:extLst>
          </p:cNvPr>
          <p:cNvSpPr/>
          <p:nvPr/>
        </p:nvSpPr>
        <p:spPr>
          <a:xfrm>
            <a:off x="8731504" y="6206976"/>
            <a:ext cx="2668016" cy="2994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Right-skewed counts motivate shrinkage.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1111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Stage 1: statistical</a:t>
            </a:r>
            <a:r>
              <a:rPr lang="en-US" sz="2200" b="1" dirty="0">
                <a:solidFill>
                  <a:srgbClr val="FF000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?</a:t>
            </a:r>
            <a:r>
              <a:rPr lang="en-US" sz="2200" b="1" dirty="0">
                <a:solidFill>
                  <a:srgbClr val="11111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signal detection with MGPS / EBGM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28748" y="1001623"/>
            <a:ext cx="4585335" cy="3861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B5C8A"/>
                </a:solidFill>
              </a:rPr>
              <a:t>Goal: Obtain statistical signal of each drug-PT pairs using EBGM</a:t>
            </a:r>
            <a:endParaRPr lang="en-US" sz="15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3"/>
              <p:cNvSpPr/>
              <p:nvPr/>
            </p:nvSpPr>
            <p:spPr>
              <a:xfrm>
                <a:off x="1055111" y="3138863"/>
                <a:ext cx="4937760" cy="1417320"/>
              </a:xfrm>
              <a:prstGeom prst="rect">
                <a:avLst/>
              </a:prstGeom>
              <a:noFill/>
              <a:ln/>
            </p:spPr>
            <p:txBody>
              <a:bodyPr wrap="square" lIns="635" tIns="635" rIns="635" bIns="635" rtlCol="0" anchor="ctr">
                <a:noAutofit/>
              </a:bodyPr>
              <a:lstStyle/>
              <a:p>
                <a:r>
                  <a:rPr lang="en-US" sz="1400" dirty="0">
                    <a:solidFill>
                      <a:srgbClr val="111111"/>
                    </a:solidFill>
                    <a:latin typeface="Aptos" pitchFamily="34" charset="0"/>
                    <a:ea typeface="Aptos" pitchFamily="34" charset="-122"/>
                    <a:cs typeface="Aptos" pitchFamily="34" charset="-120"/>
                  </a:rPr>
                  <a:t>- Simple reporting ratios,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rgbClr val="111111"/>
                        </a:solidFill>
                        <a:latin typeface="Cambria Math" panose="02040503050406030204" pitchFamily="18" charset="0"/>
                        <a:ea typeface="Aptos" pitchFamily="34" charset="-122"/>
                        <a:cs typeface="Aptos" pitchFamily="34" charset="-120"/>
                      </a:rPr>
                      <m:t>𝑅𝑅</m:t>
                    </m:r>
                    <m:r>
                      <a:rPr lang="en-US" sz="1400" b="0" i="1" smtClean="0">
                        <a:solidFill>
                          <a:srgbClr val="111111"/>
                        </a:solidFill>
                        <a:latin typeface="Cambria Math" panose="02040503050406030204" pitchFamily="18" charset="0"/>
                        <a:ea typeface="Aptos" pitchFamily="34" charset="-122"/>
                        <a:cs typeface="Aptos" pitchFamily="34" charset="-120"/>
                      </a:rPr>
                      <m:t>=</m:t>
                    </m:r>
                    <m:f>
                      <m:fPr>
                        <m:ctrlPr>
                          <a:rPr lang="en-US" sz="1400" b="0" i="1" smtClean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400" b="0" i="1" smtClean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num>
                      <m:den>
                        <m:d>
                          <m:dPr>
                            <m:ctrlPr>
                              <a:rPr lang="en-US" sz="140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Aptos" pitchFamily="34" charset="-122"/>
                                <a:cs typeface="Aptos" pitchFamily="34" charset="-120"/>
                              </a:rPr>
                            </m:ctrlPr>
                          </m:dPr>
                          <m:e>
                            <m:r>
                              <a:rPr lang="en-US" sz="140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Aptos" pitchFamily="34" charset="-122"/>
                                <a:cs typeface="Aptos" pitchFamily="34" charset="-120"/>
                              </a:rPr>
                              <m:t>𝑎</m:t>
                            </m:r>
                            <m:r>
                              <a:rPr lang="en-US" sz="140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Aptos" pitchFamily="34" charset="-122"/>
                                <a:cs typeface="Aptos" pitchFamily="34" charset="-120"/>
                              </a:rPr>
                              <m:t>+</m:t>
                            </m:r>
                            <m:r>
                              <a:rPr lang="en-US" sz="140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Aptos" pitchFamily="34" charset="-122"/>
                                <a:cs typeface="Aptos" pitchFamily="34" charset="-120"/>
                              </a:rPr>
                              <m:t>𝑏</m:t>
                            </m:r>
                          </m:e>
                        </m:d>
                        <m:d>
                          <m:dPr>
                            <m:ctrlPr>
                              <a:rPr lang="en-US" sz="140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Aptos" pitchFamily="34" charset="-122"/>
                                <a:cs typeface="Aptos" pitchFamily="34" charset="-120"/>
                              </a:rPr>
                            </m:ctrlPr>
                          </m:dPr>
                          <m:e>
                            <m:r>
                              <a:rPr lang="en-US" sz="140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Aptos" pitchFamily="34" charset="-122"/>
                                <a:cs typeface="Aptos" pitchFamily="34" charset="-120"/>
                              </a:rPr>
                              <m:t>𝑎</m:t>
                            </m:r>
                            <m:r>
                              <a:rPr lang="en-US" sz="140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Aptos" pitchFamily="34" charset="-122"/>
                                <a:cs typeface="Aptos" pitchFamily="34" charset="-120"/>
                              </a:rPr>
                              <m:t>+</m:t>
                            </m:r>
                            <m:r>
                              <a:rPr lang="en-US" sz="140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Aptos" pitchFamily="34" charset="-122"/>
                                <a:cs typeface="Aptos" pitchFamily="34" charset="-120"/>
                              </a:rPr>
                              <m:t>𝑐</m:t>
                            </m:r>
                          </m:e>
                        </m:d>
                        <m:r>
                          <a:rPr lang="en-US" sz="1400" b="0" i="1" smtClean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Aptos" pitchFamily="34" charset="-122"/>
                            <a:cs typeface="Aptos" pitchFamily="34" charset="-120"/>
                          </a:rPr>
                          <m:t>/</m:t>
                        </m:r>
                        <m:r>
                          <a:rPr lang="en-US" sz="1400" b="0" i="1" smtClean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Aptos" pitchFamily="34" charset="-122"/>
                            <a:cs typeface="Aptos" pitchFamily="34" charset="-120"/>
                          </a:rPr>
                          <m:t>𝑁</m:t>
                        </m:r>
                      </m:den>
                    </m:f>
                  </m:oMath>
                </a14:m>
                <a:r>
                  <a:rPr lang="en-US" sz="1400" dirty="0">
                    <a:solidFill>
                      <a:srgbClr val="111111"/>
                    </a:solidFill>
                    <a:latin typeface="Aptos" pitchFamily="34" charset="0"/>
                    <a:ea typeface="Aptos" pitchFamily="34" charset="-122"/>
                    <a:cs typeface="Aptos" pitchFamily="34" charset="-120"/>
                  </a:rPr>
                  <a:t> can explode when expected counts are tiny.</a:t>
                </a:r>
              </a:p>
              <a:p>
                <a:pPr marL="285750" indent="-285750">
                  <a:buFontTx/>
                  <a:buChar char="-"/>
                </a:pPr>
                <a:endParaRPr lang="en-US" sz="1400" dirty="0"/>
              </a:p>
              <a:p>
                <a:r>
                  <a:rPr lang="en-US" sz="1400" dirty="0"/>
                  <a:t>- MGPS estimates the Empirical Bayes Geometric Mean (EBGM), shrinking unstable small-count signals toward the null (EBGM = 1).</a:t>
                </a:r>
              </a:p>
              <a:p>
                <a:endParaRPr lang="en-US" sz="1400" dirty="0"/>
              </a:p>
              <a:p>
                <a:r>
                  <a:rPr lang="en-US" sz="1400" dirty="0">
                    <a:solidFill>
                      <a:srgbClr val="111111"/>
                    </a:solidFill>
                    <a:latin typeface="Aptos" pitchFamily="34" charset="0"/>
                    <a:ea typeface="Aptos" pitchFamily="34" charset="-122"/>
                    <a:cs typeface="Aptos" pitchFamily="34" charset="-120"/>
                  </a:rPr>
                  <a:t>- Decision rule used here: n_reports ≥ 5 and EB05 &gt; 2.</a:t>
                </a:r>
                <a:endParaRPr lang="en-US" sz="1400" dirty="0"/>
              </a:p>
            </p:txBody>
          </p:sp>
        </mc:Choice>
        <mc:Fallback xmlns="">
          <p:sp>
            <p:nvSpPr>
              <p:cNvPr id="5" name="Text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5111" y="3138863"/>
                <a:ext cx="4937760" cy="1417320"/>
              </a:xfrm>
              <a:prstGeom prst="rect">
                <a:avLst/>
              </a:prstGeom>
              <a:blipFill>
                <a:blip r:embed="rId3"/>
                <a:stretch>
                  <a:fillRect l="-2222" t="-15517" r="-1975" b="-21552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 9"/>
          <p:cNvSpPr/>
          <p:nvPr/>
        </p:nvSpPr>
        <p:spPr>
          <a:xfrm>
            <a:off x="6492715" y="1686890"/>
            <a:ext cx="530352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Screening output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11003" y="2290394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2B5C8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177,823</a:t>
            </a:r>
            <a:endParaRPr lang="en-US" sz="2300" dirty="0"/>
          </a:p>
        </p:txBody>
      </p:sp>
      <p:sp>
        <p:nvSpPr>
          <p:cNvPr id="13" name="Text 11"/>
          <p:cNvSpPr/>
          <p:nvPr/>
        </p:nvSpPr>
        <p:spPr>
          <a:xfrm>
            <a:off x="6511003" y="2647010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666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drug–PT pairs passed threshold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374269" y="2290394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2B5C8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9,032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8374269" y="264701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666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unique PTs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9738132" y="2290394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2B5C8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3,523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9738132" y="2647010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666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unique drugs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8069352" y="320380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B75C3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10.99%</a:t>
            </a:r>
            <a:endParaRPr lang="en-US" sz="2300" dirty="0"/>
          </a:p>
        </p:txBody>
      </p:sp>
      <p:sp>
        <p:nvSpPr>
          <p:cNvPr id="19" name="Text 17"/>
          <p:cNvSpPr/>
          <p:nvPr/>
        </p:nvSpPr>
        <p:spPr>
          <a:xfrm>
            <a:off x="8069352" y="356042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666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survival rate from all pairs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68680" y="5112981"/>
            <a:ext cx="10561320" cy="676656"/>
          </a:xfrm>
          <a:prstGeom prst="rect">
            <a:avLst/>
          </a:prstGeom>
          <a:solidFill>
            <a:srgbClr val="F4F6F7"/>
          </a:solidFill>
          <a:ln w="9525">
            <a:solidFill>
              <a:srgbClr val="D9DEE3"/>
            </a:solidFill>
          </a:ln>
        </p:spPr>
        <p:txBody>
          <a:bodyPr wrap="square" lIns="1397" tIns="1397" rIns="1397" bIns="1397" rtlCol="0" anchor="ctr">
            <a:normAutofit/>
          </a:bodyPr>
          <a:lstStyle/>
          <a:p>
            <a:pPr marL="0" indent="0" algn="ctr">
              <a:buNone/>
            </a:pPr>
            <a:r>
              <a:rPr lang="en-US" sz="1500" dirty="0"/>
              <a:t>Stage 1 narrows the candidate ADR search space, but the remaining signals still include non-ADR terms, </a:t>
            </a:r>
          </a:p>
          <a:p>
            <a:pPr marL="0" indent="0" algn="ctr">
              <a:buNone/>
            </a:pPr>
            <a:r>
              <a:rPr lang="en-US" sz="1500" dirty="0"/>
              <a:t>such as treatment failure and product issues, as well as events already listed in FDA labels.</a:t>
            </a:r>
          </a:p>
        </p:txBody>
      </p:sp>
      <p:sp>
        <p:nvSpPr>
          <p:cNvPr id="21" name="Text 19"/>
          <p:cNvSpPr/>
          <p:nvPr/>
        </p:nvSpPr>
        <p:spPr>
          <a:xfrm>
            <a:off x="502920" y="6464808"/>
            <a:ext cx="5303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888888"/>
                </a:solidFill>
              </a:rPr>
              <a:t>AIWSNYC Hackathon | FAERS signal detection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77777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1401609B-8256-F062-6E5D-AA07AAD885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1334" y="1431620"/>
            <a:ext cx="2952750" cy="133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1111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Stage 2: LLM triage of MedDRA PTs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02920" y="910414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B5C8A"/>
                </a:solidFill>
              </a:rPr>
              <a:t>Goal: retain PTs that could plausibly be adverse drug reactions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42929" y="1348438"/>
            <a:ext cx="6673933" cy="2409163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400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FAERS records </a:t>
            </a:r>
            <a:r>
              <a:rPr lang="en-US" sz="1400" dirty="0">
                <a:solidFill>
                  <a:srgbClr val="FF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adverse events, not adverse reactions</a:t>
            </a:r>
            <a:r>
              <a:rPr lang="en-US" sz="1400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</a:t>
            </a:r>
          </a:p>
          <a:p>
            <a:pPr marL="285750" indent="-285750">
              <a:buFontTx/>
              <a:buChar char="-"/>
            </a:pP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PTs are classified drug-agnostically into 7 categories using LLM. Then, keep ADR related </a:t>
            </a:r>
            <a:r>
              <a:rPr lang="en-US" sz="1400" dirty="0" err="1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PTs.</a:t>
            </a:r>
            <a:endParaRPr lang="en-US" sz="1400" dirty="0">
              <a:solidFill>
                <a:srgbClr val="111111"/>
              </a:solidFill>
              <a:latin typeface="Aptos" pitchFamily="34" charset="0"/>
              <a:ea typeface="Aptos" pitchFamily="34" charset="-122"/>
              <a:cs typeface="Aptos" pitchFamily="34" charset="-120"/>
            </a:endParaRPr>
          </a:p>
          <a:p>
            <a:pPr marL="285750" indent="-285750">
              <a:buFontTx/>
              <a:buChar char="-"/>
            </a:pP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Kept categories: CLINICAL_EVENT (e.g. rash) and LAB_OR_INVESTIGATION (blood glucose increased.)</a:t>
            </a:r>
          </a:p>
          <a:p>
            <a:pPr marL="285750" indent="-285750">
              <a:buFontTx/>
              <a:buChar char="-"/>
            </a:pPr>
            <a:endParaRPr lang="en-US" sz="1400" dirty="0">
              <a:solidFill>
                <a:srgbClr val="111111"/>
              </a:solidFill>
              <a:latin typeface="Aptos" pitchFamily="34" charset="0"/>
              <a:ea typeface="Aptos" pitchFamily="34" charset="-122"/>
              <a:cs typeface="Aptos" pitchFamily="34" charset="-120"/>
            </a:endParaRPr>
          </a:p>
          <a:p>
            <a:r>
              <a:rPr lang="en-US" sz="1400" dirty="0">
                <a:solidFill>
                  <a:srgbClr val="111111"/>
                </a:solidFill>
                <a:latin typeface="Aptos" pitchFamily="34" charset="0"/>
              </a:rPr>
              <a:t>- Blocked: LACK_OF_EFFICACY (drug ineffective), MEDICATION_ERROR_OR_MISUSE (off label use), PRODUCT_OR_DEVICE_ISSUE (device malfunction), ADMINISTRATION_SITE_OR_ROUTE (infusion site pain), NONSPECIFIC_OR_CONTEXT.</a:t>
            </a:r>
          </a:p>
          <a:p>
            <a:pPr marL="285750" indent="-285750">
              <a:buFontTx/>
              <a:buChar char="-"/>
            </a:pPr>
            <a:endParaRPr lang="en-US" sz="1400" dirty="0">
              <a:solidFill>
                <a:srgbClr val="111111"/>
              </a:solidFill>
              <a:latin typeface="Aptos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621792" y="3858923"/>
            <a:ext cx="5085489" cy="1704142"/>
          </a:xfrm>
          <a:prstGeom prst="rect">
            <a:avLst/>
          </a:prstGeom>
          <a:solidFill>
            <a:srgbClr val="FFFFFF"/>
          </a:solidFill>
          <a:ln w="9525">
            <a:solidFill>
              <a:srgbClr val="BFC7CF"/>
            </a:solidFill>
          </a:ln>
        </p:spPr>
        <p:txBody>
          <a:bodyPr wrap="square" lIns="137160" tIns="73152" rIns="137160" bIns="73152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130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 Exert:</a:t>
            </a:r>
          </a:p>
          <a:p>
            <a:pPr marL="0" indent="0" algn="l">
              <a:buNone/>
            </a:pPr>
            <a:r>
              <a:rPr lang="en-US" sz="1130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“You are </a:t>
            </a:r>
            <a:r>
              <a:rPr lang="en-US" sz="1130" dirty="0">
                <a:solidFill>
                  <a:srgbClr val="FF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senior pharmacovigilance analyst </a:t>
            </a:r>
            <a:r>
              <a:rPr lang="en-US" sz="1130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and MedDRA expert. </a:t>
            </a:r>
            <a:r>
              <a:rPr lang="en-US" sz="1130" dirty="0">
                <a:solidFill>
                  <a:srgbClr val="FF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Definitions</a:t>
            </a:r>
            <a:r>
              <a:rPr lang="en-US" sz="1130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r>
              <a:rPr lang="en-US" sz="1130" dirty="0">
                <a:solidFill>
                  <a:srgbClr val="FF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(ICH E2A): - Adverse Event (AE): </a:t>
            </a:r>
            <a:r>
              <a:rPr lang="en-US" sz="1130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any</a:t>
            </a:r>
            <a:r>
              <a:rPr lang="ko-KR" altLang="en-US" sz="1130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r>
              <a:rPr lang="en-US" altLang="ko-KR" sz="1130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unwanted </a:t>
            </a:r>
            <a:r>
              <a:rPr lang="en-US" sz="1130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… We want to retain only PTs that could plausibly be a genuine adverse reaction to some drug. … </a:t>
            </a:r>
            <a:r>
              <a:rPr lang="en-US" sz="1130" dirty="0">
                <a:solidFill>
                  <a:srgbClr val="FF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PTs </a:t>
            </a:r>
            <a:r>
              <a:rPr lang="en-US" sz="1130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denoting a clinical event/sign/symptom/diagnosis/injury actually experienced by a patient, and lab/investigation findings … </a:t>
            </a:r>
            <a:r>
              <a:rPr lang="en-US" sz="1130" dirty="0">
                <a:solidFill>
                  <a:srgbClr val="FF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DISCARD PTs </a:t>
            </a:r>
            <a:r>
              <a:rPr lang="en-US" sz="1130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that are intrinsically NOT a patient clinical event. … </a:t>
            </a:r>
            <a:r>
              <a:rPr lang="en-US" sz="1130" dirty="0">
                <a:solidFill>
                  <a:srgbClr val="FF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Classify</a:t>
            </a:r>
            <a:r>
              <a:rPr lang="en-US" sz="1130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each MedDRA Preferred Term (PT) into EXACTLY ONE category below … </a:t>
            </a:r>
            <a:r>
              <a:rPr lang="en-US" sz="1130" dirty="0">
                <a:solidFill>
                  <a:srgbClr val="FF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CATEGORIES: - CLINICAL_EVENT: </a:t>
            </a:r>
            <a:r>
              <a:rPr lang="en-US" sz="1130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genuine clinical sign, … Classify </a:t>
            </a:r>
            <a:r>
              <a:rPr lang="en-US" sz="1130" dirty="0">
                <a:solidFill>
                  <a:srgbClr val="FF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these 50 PTs</a:t>
            </a:r>
            <a:r>
              <a:rPr lang="en-US" sz="1130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1. Drug ineffective 2. Toxicity to various agents …”</a:t>
            </a:r>
            <a:endParaRPr lang="en-US" sz="1130" dirty="0"/>
          </a:p>
        </p:txBody>
      </p:sp>
      <p:sp>
        <p:nvSpPr>
          <p:cNvPr id="7" name="Text 5"/>
          <p:cNvSpPr/>
          <p:nvPr/>
        </p:nvSpPr>
        <p:spPr>
          <a:xfrm>
            <a:off x="5989121" y="4031947"/>
            <a:ext cx="4884933" cy="1382583"/>
          </a:xfrm>
          <a:prstGeom prst="rect">
            <a:avLst/>
          </a:prstGeom>
          <a:solidFill>
            <a:srgbClr val="F4F6F7"/>
          </a:solidFill>
          <a:ln w="9525">
            <a:solidFill>
              <a:srgbClr val="D9DEE3"/>
            </a:solidFill>
          </a:ln>
        </p:spPr>
        <p:txBody>
          <a:bodyPr wrap="square" lIns="137160" tIns="73152" rIns="137160" bIns="73152" rtlCol="0" anchor="ctr">
            <a:normAutofit/>
          </a:bodyPr>
          <a:lstStyle/>
          <a:p>
            <a:pPr marL="0" indent="0" algn="l">
              <a:buNone/>
            </a:pPr>
            <a:r>
              <a:rPr lang="en-US" sz="1130" dirty="0">
                <a:solidFill>
                  <a:srgbClr val="111111"/>
                </a:solidFill>
                <a:ea typeface="Aptos" pitchFamily="34" charset="-122"/>
                <a:cs typeface="Aptos" pitchFamily="34" charset="-120"/>
              </a:rPr>
              <a:t>Output schema:</a:t>
            </a:r>
            <a:endParaRPr lang="en-US" sz="1130" dirty="0"/>
          </a:p>
          <a:p>
            <a:pPr marL="0" indent="0" algn="l">
              <a:buNone/>
            </a:pPr>
            <a:r>
              <a:rPr lang="en-US" sz="1130" dirty="0">
                <a:solidFill>
                  <a:srgbClr val="111111"/>
                </a:solidFill>
                <a:ea typeface="Aptos" pitchFamily="34" charset="-122"/>
                <a:cs typeface="Aptos" pitchFamily="34" charset="-120"/>
              </a:rPr>
              <a:t>{pt, pt_type, keep, reasoning}</a:t>
            </a:r>
          </a:p>
          <a:p>
            <a:pPr marL="0" indent="0" algn="l">
              <a:buNone/>
            </a:pPr>
            <a:endParaRPr lang="en-US" sz="1130" dirty="0">
              <a:solidFill>
                <a:srgbClr val="111111"/>
              </a:solidFill>
              <a:ea typeface="Aptos" pitchFamily="34" charset="-122"/>
              <a:cs typeface="Aptos" pitchFamily="34" charset="-120"/>
            </a:endParaRPr>
          </a:p>
          <a:p>
            <a:pPr marL="0" indent="0" algn="l">
              <a:buNone/>
            </a:pPr>
            <a:r>
              <a:rPr lang="en-US" sz="1130" dirty="0">
                <a:solidFill>
                  <a:srgbClr val="111111"/>
                </a:solidFill>
                <a:ea typeface="Aptos" pitchFamily="34" charset="-122"/>
                <a:cs typeface="Aptos" pitchFamily="34" charset="-120"/>
              </a:rPr>
              <a:t>e.g.</a:t>
            </a:r>
          </a:p>
          <a:p>
            <a:pPr marL="0" indent="0" algn="l">
              <a:buNone/>
            </a:pPr>
            <a:r>
              <a:rPr lang="en-US" sz="1130" dirty="0">
                <a:solidFill>
                  <a:srgbClr val="111111"/>
                </a:solidFill>
                <a:ea typeface="Aptos" pitchFamily="34" charset="-122"/>
                <a:cs typeface="Aptos" pitchFamily="34" charset="-120"/>
              </a:rPr>
              <a:t>{'pt': '</a:t>
            </a:r>
            <a:r>
              <a:rPr lang="en-US" sz="1130" dirty="0" err="1">
                <a:solidFill>
                  <a:srgbClr val="111111"/>
                </a:solidFill>
                <a:ea typeface="Aptos" pitchFamily="34" charset="-122"/>
                <a:cs typeface="Aptos" pitchFamily="34" charset="-120"/>
              </a:rPr>
              <a:t>Anaemia</a:t>
            </a:r>
            <a:r>
              <a:rPr lang="en-US" sz="1130" dirty="0">
                <a:solidFill>
                  <a:srgbClr val="111111"/>
                </a:solidFill>
                <a:ea typeface="Aptos" pitchFamily="34" charset="-122"/>
                <a:cs typeface="Aptos" pitchFamily="34" charset="-120"/>
              </a:rPr>
              <a:t>', '</a:t>
            </a:r>
            <a:r>
              <a:rPr lang="en-US" sz="1130" dirty="0" err="1">
                <a:solidFill>
                  <a:srgbClr val="111111"/>
                </a:solidFill>
                <a:ea typeface="Aptos" pitchFamily="34" charset="-122"/>
                <a:cs typeface="Aptos" pitchFamily="34" charset="-120"/>
              </a:rPr>
              <a:t>pt_type</a:t>
            </a:r>
            <a:r>
              <a:rPr lang="en-US" sz="1130" dirty="0">
                <a:solidFill>
                  <a:srgbClr val="111111"/>
                </a:solidFill>
                <a:ea typeface="Aptos" pitchFamily="34" charset="-122"/>
                <a:cs typeface="Aptos" pitchFamily="34" charset="-120"/>
              </a:rPr>
              <a:t>': 'CLINICAL_EVENT’}</a:t>
            </a:r>
          </a:p>
          <a:p>
            <a:pPr marL="0" indent="0" algn="l">
              <a:buNone/>
            </a:pPr>
            <a:r>
              <a:rPr lang="en-US" sz="1130" dirty="0">
                <a:solidFill>
                  <a:srgbClr val="111111"/>
                </a:solidFill>
                <a:ea typeface="Aptos" pitchFamily="34" charset="-122"/>
                <a:cs typeface="Aptos" pitchFamily="34" charset="-120"/>
              </a:rPr>
              <a:t>{'pt': 'Drug ineffective', '</a:t>
            </a:r>
            <a:r>
              <a:rPr lang="en-US" sz="1130" dirty="0" err="1">
                <a:solidFill>
                  <a:srgbClr val="111111"/>
                </a:solidFill>
                <a:ea typeface="Aptos" pitchFamily="34" charset="-122"/>
                <a:cs typeface="Aptos" pitchFamily="34" charset="-120"/>
              </a:rPr>
              <a:t>pt_type</a:t>
            </a:r>
            <a:r>
              <a:rPr lang="en-US" sz="1130" dirty="0">
                <a:solidFill>
                  <a:srgbClr val="111111"/>
                </a:solidFill>
                <a:ea typeface="Aptos" pitchFamily="34" charset="-122"/>
                <a:cs typeface="Aptos" pitchFamily="34" charset="-120"/>
              </a:rPr>
              <a:t>': 'LACK_OF_EFFICACY’}</a:t>
            </a:r>
          </a:p>
          <a:p>
            <a:pPr marL="0" indent="0" algn="l">
              <a:buNone/>
            </a:pPr>
            <a:r>
              <a:rPr lang="en-US" sz="1130" dirty="0">
                <a:solidFill>
                  <a:srgbClr val="111111"/>
                </a:solidFill>
                <a:ea typeface="Aptos" pitchFamily="34" charset="-122"/>
                <a:cs typeface="Aptos" pitchFamily="34" charset="-120"/>
              </a:rPr>
              <a:t>…</a:t>
            </a:r>
            <a:endParaRPr lang="en-US" sz="1130" dirty="0"/>
          </a:p>
        </p:txBody>
      </p:sp>
      <p:sp>
        <p:nvSpPr>
          <p:cNvPr id="9" name="Text 6"/>
          <p:cNvSpPr/>
          <p:nvPr/>
        </p:nvSpPr>
        <p:spPr>
          <a:xfrm>
            <a:off x="1150917" y="5765253"/>
            <a:ext cx="10378440" cy="429768"/>
          </a:xfrm>
          <a:prstGeom prst="rect">
            <a:avLst/>
          </a:prstGeom>
          <a:solidFill>
            <a:srgbClr val="F0EEF8"/>
          </a:solidFill>
          <a:ln w="9525">
            <a:solidFill>
              <a:srgbClr val="D3CFE8"/>
            </a:solidFill>
          </a:ln>
        </p:spPr>
        <p:txBody>
          <a:bodyPr wrap="square" lIns="1397" tIns="1397" rIns="1397" bIns="1397" rtlCol="0" anchor="ctr">
            <a:normAutofit/>
          </a:bodyPr>
          <a:lstStyle/>
          <a:p>
            <a:pPr marL="0" indent="0" algn="ctr">
              <a:buNone/>
            </a:pPr>
            <a:r>
              <a:rPr lang="en-US" sz="1320" dirty="0"/>
              <a:t>After retaining 7,881 clinical PTs, 154,041 of 177,823 EBGM signals (drug–PT pairs) remained as candidate drug–ADR pairs.</a:t>
            </a:r>
          </a:p>
        </p:txBody>
      </p:sp>
      <p:sp>
        <p:nvSpPr>
          <p:cNvPr id="10" name="Text 7"/>
          <p:cNvSpPr/>
          <p:nvPr/>
        </p:nvSpPr>
        <p:spPr>
          <a:xfrm>
            <a:off x="502920" y="6464808"/>
            <a:ext cx="5303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888888"/>
                </a:solidFill>
              </a:rPr>
              <a:t>AIWSNYC Hackathon | FAERS signal detection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77777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BEDBC9C-2F4D-7502-DD4F-EEBC7C5F01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332" y="1225460"/>
            <a:ext cx="4708867" cy="227013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1111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Stage 3: LLM comparison against FDA label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85800" y="1327438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B5C8A"/>
                </a:solidFill>
              </a:rPr>
              <a:t>Question: is the signal already known for this product?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13232" y="1889140"/>
            <a:ext cx="5010912" cy="1844111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lnSpcReduction="10000"/>
          </a:bodyPr>
          <a:lstStyle/>
          <a:p>
            <a:r>
              <a:rPr lang="en-US" sz="1310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Fetch FDA SPL label via openFDA drug/label endpoint.</a:t>
            </a:r>
            <a:endParaRPr lang="en-US" sz="1310" dirty="0"/>
          </a:p>
          <a:p>
            <a:endParaRPr lang="en-US" sz="1310" dirty="0">
              <a:solidFill>
                <a:srgbClr val="111111"/>
              </a:solidFill>
              <a:latin typeface="Aptos" pitchFamily="34" charset="0"/>
              <a:ea typeface="Aptos" pitchFamily="34" charset="-122"/>
              <a:cs typeface="Aptos" pitchFamily="34" charset="-120"/>
            </a:endParaRPr>
          </a:p>
          <a:p>
            <a:r>
              <a:rPr lang="en-US" sz="1310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Compare candidate AEs against label sections: indications, boxed warning, adverse reactions, warnings/precautions, etc. to categorize each PTs </a:t>
            </a:r>
            <a:r>
              <a:rPr lang="en-US" sz="1310" dirty="0">
                <a:solidFill>
                  <a:srgbClr val="FF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into ‘novel’, ‘</a:t>
            </a:r>
            <a:r>
              <a:rPr lang="en-US" sz="1310" dirty="0" err="1">
                <a:solidFill>
                  <a:srgbClr val="FF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already_labeled</a:t>
            </a:r>
            <a:r>
              <a:rPr lang="en-US" sz="1310" dirty="0">
                <a:solidFill>
                  <a:srgbClr val="FF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’, and ‘</a:t>
            </a:r>
            <a:r>
              <a:rPr lang="en-US" sz="1310" dirty="0" err="1">
                <a:solidFill>
                  <a:srgbClr val="FF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disease_related</a:t>
            </a:r>
            <a:r>
              <a:rPr lang="en-US" sz="1310" dirty="0">
                <a:solidFill>
                  <a:srgbClr val="FF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.’</a:t>
            </a:r>
          </a:p>
          <a:p>
            <a:pPr marL="285750" indent="-285750">
              <a:buFontTx/>
              <a:buChar char="-"/>
            </a:pPr>
            <a:endParaRPr lang="en-US" sz="1310" dirty="0"/>
          </a:p>
          <a:p>
            <a:r>
              <a:rPr lang="en-US" sz="1310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Drug can be pinned to one curated brand/product because labels differ by route, form, and manufacturer.</a:t>
            </a:r>
          </a:p>
          <a:p>
            <a:endParaRPr lang="en-US" sz="1310" dirty="0">
              <a:solidFill>
                <a:srgbClr val="111111"/>
              </a:solidFill>
              <a:latin typeface="Aptos" pitchFamily="34" charset="0"/>
            </a:endParaRPr>
          </a:p>
          <a:p>
            <a:r>
              <a:rPr lang="en-US" sz="1310" dirty="0"/>
              <a:t>- For the test analysis, I randomly selected 100 drug-brand pairs</a:t>
            </a:r>
          </a:p>
        </p:txBody>
      </p:sp>
      <p:sp>
        <p:nvSpPr>
          <p:cNvPr id="6" name="Text 4"/>
          <p:cNvSpPr/>
          <p:nvPr/>
        </p:nvSpPr>
        <p:spPr>
          <a:xfrm>
            <a:off x="502919" y="4132540"/>
            <a:ext cx="5425441" cy="1959341"/>
          </a:xfrm>
          <a:prstGeom prst="rect">
            <a:avLst/>
          </a:prstGeom>
          <a:solidFill>
            <a:srgbClr val="FFFFFF"/>
          </a:solidFill>
          <a:ln w="9525">
            <a:solidFill>
              <a:srgbClr val="BFC7CF"/>
            </a:solidFill>
          </a:ln>
        </p:spPr>
        <p:txBody>
          <a:bodyPr wrap="square" lIns="137160" tIns="73152" rIns="137160" bIns="73152" rtlCol="0" anchor="ctr">
            <a:noAutofit/>
          </a:bodyPr>
          <a:lstStyle/>
          <a:p>
            <a:pPr marL="0" indent="0" algn="l">
              <a:buNone/>
            </a:pPr>
            <a:r>
              <a:rPr lang="en-US" sz="1130" dirty="0"/>
              <a:t>Prompt Exert:</a:t>
            </a:r>
          </a:p>
          <a:p>
            <a:pPr marL="0" indent="0" algn="l">
              <a:buNone/>
            </a:pPr>
            <a:r>
              <a:rPr lang="en-US" sz="1130" dirty="0"/>
              <a:t>“You are a </a:t>
            </a:r>
            <a:r>
              <a:rPr lang="en-US" sz="1130" dirty="0">
                <a:solidFill>
                  <a:srgbClr val="FF0000"/>
                </a:solidFill>
              </a:rPr>
              <a:t>pharmacovigilance expert </a:t>
            </a:r>
            <a:r>
              <a:rPr lang="en-US" sz="1130" dirty="0"/>
              <a:t>comparing candidate adverse events (AEs) for ONE drug against that drug's official FDA label. … Treat the ENTIRE label as the source of truth … For each AE, make a </a:t>
            </a:r>
            <a:r>
              <a:rPr lang="en-US" sz="1130" dirty="0">
                <a:solidFill>
                  <a:srgbClr val="FF0000"/>
                </a:solidFill>
              </a:rPr>
              <a:t>hierarchical decision </a:t>
            </a:r>
            <a:r>
              <a:rPr lang="en-US" sz="1130" dirty="0"/>
              <a:t>and assign exactly ONE status … </a:t>
            </a:r>
            <a:r>
              <a:rPr lang="en-US" sz="1130" dirty="0">
                <a:solidFill>
                  <a:srgbClr val="FF0000"/>
                </a:solidFill>
              </a:rPr>
              <a:t>1.</a:t>
            </a:r>
            <a:r>
              <a:rPr lang="en-US" sz="1130" dirty="0"/>
              <a:t> If the AE is really the drug's INDICATION … </a:t>
            </a:r>
            <a:r>
              <a:rPr lang="en-US" sz="1130" dirty="0">
                <a:solidFill>
                  <a:srgbClr val="FF0000"/>
                </a:solidFill>
              </a:rPr>
              <a:t>2.</a:t>
            </a:r>
            <a:r>
              <a:rPr lang="en-US" sz="1130" dirty="0"/>
              <a:t> Else if the label describes the AE as something the drug can cause … </a:t>
            </a:r>
            <a:r>
              <a:rPr lang="en-US" sz="1130" dirty="0">
                <a:solidFill>
                  <a:srgbClr val="FF0000"/>
                </a:solidFill>
              </a:rPr>
              <a:t>3.</a:t>
            </a:r>
            <a:r>
              <a:rPr lang="en-US" sz="1130" dirty="0"/>
              <a:t> Else -&gt; novel (a potential unlabeled ADR) … === </a:t>
            </a:r>
            <a:r>
              <a:rPr lang="en-US" sz="1130" dirty="0">
                <a:solidFill>
                  <a:srgbClr val="FF0000"/>
                </a:solidFill>
              </a:rPr>
              <a:t>FDA LABEL </a:t>
            </a:r>
            <a:r>
              <a:rPr lang="en-US" sz="1130" dirty="0"/>
              <a:t>===</a:t>
            </a:r>
          </a:p>
          <a:p>
            <a:pPr marL="0" indent="0" algn="l">
              <a:buNone/>
            </a:pPr>
            <a:r>
              <a:rPr lang="en-US" sz="1130" dirty="0"/>
              <a:t>## INDICATIONS AND USAGE 1 INDICATIONS AND USAGE ULORIC … === </a:t>
            </a:r>
            <a:r>
              <a:rPr lang="en-US" sz="1130" dirty="0">
                <a:solidFill>
                  <a:srgbClr val="FF0000"/>
                </a:solidFill>
              </a:rPr>
              <a:t>CANDIDATE ADVERSE EVENTS </a:t>
            </a:r>
            <a:r>
              <a:rPr lang="en-US" sz="1130" dirty="0"/>
              <a:t>=== 1. Cerebral artery thrombosis 2. Gouty arthritis …</a:t>
            </a:r>
          </a:p>
          <a:p>
            <a:pPr marL="0" indent="0" algn="l">
              <a:buNone/>
            </a:pPr>
            <a:endParaRPr lang="en-US" sz="1130" dirty="0"/>
          </a:p>
        </p:txBody>
      </p:sp>
      <p:sp>
        <p:nvSpPr>
          <p:cNvPr id="7" name="Text 5"/>
          <p:cNvSpPr/>
          <p:nvPr/>
        </p:nvSpPr>
        <p:spPr>
          <a:xfrm>
            <a:off x="6202093" y="4327118"/>
            <a:ext cx="4846320" cy="1581938"/>
          </a:xfrm>
          <a:prstGeom prst="rect">
            <a:avLst/>
          </a:prstGeom>
          <a:solidFill>
            <a:srgbClr val="F8EFEA"/>
          </a:solidFill>
          <a:ln w="9525">
            <a:solidFill>
              <a:srgbClr val="E7C6B6"/>
            </a:solidFill>
          </a:ln>
        </p:spPr>
        <p:txBody>
          <a:bodyPr wrap="square" lIns="137160" tIns="73152" rIns="137160" bIns="73152" rtlCol="0" anchor="ctr">
            <a:normAutofit lnSpcReduction="10000"/>
          </a:bodyPr>
          <a:lstStyle/>
          <a:p>
            <a:r>
              <a:rPr lang="en-US" sz="1130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 schema:</a:t>
            </a:r>
            <a:endParaRPr lang="en-US" sz="1130" dirty="0"/>
          </a:p>
          <a:p>
            <a:r>
              <a:rPr lang="en-US" sz="1130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{"pt": "&lt;verbatim&gt;", "status": "&lt;one status&gt;", "reasoning": "&lt;one short sentence&gt;"}</a:t>
            </a:r>
          </a:p>
          <a:p>
            <a:pPr marL="0" indent="0" algn="l">
              <a:buNone/>
            </a:pPr>
            <a:endParaRPr lang="en-US" sz="1130" dirty="0">
              <a:solidFill>
                <a:srgbClr val="111111"/>
              </a:solidFill>
              <a:latin typeface="Aptos" pitchFamily="34" charset="0"/>
              <a:ea typeface="Aptos" pitchFamily="34" charset="-122"/>
              <a:cs typeface="Aptos" pitchFamily="34" charset="-120"/>
            </a:endParaRPr>
          </a:p>
          <a:p>
            <a:pPr marL="0" indent="0" algn="l">
              <a:buNone/>
            </a:pPr>
            <a:r>
              <a:rPr lang="en-US" sz="1130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e.g.</a:t>
            </a:r>
          </a:p>
          <a:p>
            <a:pPr marL="0" indent="0" algn="l">
              <a:buNone/>
            </a:pPr>
            <a:r>
              <a:rPr lang="en-US" sz="1130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{‘pt’: ‘Cerebral artery thrombosis’, ‘</a:t>
            </a:r>
            <a:r>
              <a:rPr lang="en-US" sz="1130" dirty="0" err="1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status’:’novel</a:t>
            </a:r>
            <a:r>
              <a:rPr lang="en-US" sz="1130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’, ‘reasoning’: ‘The label does not mention cerebral artery </a:t>
            </a:r>
            <a:r>
              <a:rPr lang="en-US" sz="1130" dirty="0" err="1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</a:t>
            </a:r>
            <a:r>
              <a:rPr lang="en-US" sz="1130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...’}</a:t>
            </a:r>
          </a:p>
          <a:p>
            <a:r>
              <a:rPr lang="en-US" sz="1130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{‘pt’: ‘</a:t>
            </a:r>
            <a:r>
              <a:rPr lang="en-US" sz="1130" dirty="0" err="1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Dyslipidaemia</a:t>
            </a:r>
            <a:r>
              <a:rPr lang="en-US" sz="1130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’, ‘status’: ‘</a:t>
            </a:r>
            <a:r>
              <a:rPr lang="en-US" sz="1130" dirty="0" err="1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already_labeled</a:t>
            </a:r>
            <a:r>
              <a:rPr lang="en-US" sz="1130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’, ‘reasoning’: ‘</a:t>
            </a:r>
            <a:r>
              <a:rPr lang="en-US" sz="1130" dirty="0" err="1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Dyslipidaemia</a:t>
            </a:r>
            <a:r>
              <a:rPr lang="en-US" sz="1130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is covered under '</a:t>
            </a:r>
            <a:r>
              <a:rPr lang="en-US" sz="1130" dirty="0" err="1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hyperlipid</a:t>
            </a:r>
            <a:r>
              <a:rPr lang="en-US" sz="1130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…’}</a:t>
            </a:r>
          </a:p>
        </p:txBody>
      </p:sp>
      <p:pic>
        <p:nvPicPr>
          <p:cNvPr id="8" name="Image 0" descr="/mnt/data/nb_assets/cell14_out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1327438"/>
            <a:ext cx="5843847" cy="226768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223951" y="3659574"/>
            <a:ext cx="3426336" cy="14735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130" dirty="0">
                <a:solidFill>
                  <a:srgbClr val="6666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Across 100 sampled drugs, status composition varied.</a:t>
            </a:r>
            <a:endParaRPr lang="en-US" sz="1130" dirty="0"/>
          </a:p>
        </p:txBody>
      </p:sp>
      <p:sp>
        <p:nvSpPr>
          <p:cNvPr id="10" name="Text 7"/>
          <p:cNvSpPr/>
          <p:nvPr/>
        </p:nvSpPr>
        <p:spPr>
          <a:xfrm>
            <a:off x="502920" y="6464808"/>
            <a:ext cx="5303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888888"/>
                </a:solidFill>
              </a:rPr>
              <a:t>AIWSNYC Hackathon | FAERS signal detection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77777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1111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Stage 4: Priority score and internal validation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94360" y="941832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B5C8A"/>
                </a:solidFill>
              </a:rPr>
              <a:t>Goal: Prioritize novel signals that rank near known ADRs</a:t>
            </a:r>
            <a:endParaRPr lang="en-US" sz="15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3"/>
              <p:cNvSpPr/>
              <p:nvPr/>
            </p:nvSpPr>
            <p:spPr>
              <a:xfrm>
                <a:off x="672084" y="1304262"/>
                <a:ext cx="4892040" cy="1676681"/>
              </a:xfrm>
              <a:prstGeom prst="rect">
                <a:avLst/>
              </a:prstGeom>
              <a:noFill/>
              <a:ln/>
            </p:spPr>
            <p:txBody>
              <a:bodyPr wrap="square" lIns="635" tIns="635" rIns="635" bIns="635" rtlCol="0" anchor="ctr">
                <a:normAutofit fontScale="92500" lnSpcReduction="20000"/>
              </a:bodyPr>
              <a:lstStyle/>
              <a:p>
                <a:r>
                  <a:rPr lang="en-US" sz="1320" dirty="0">
                    <a:solidFill>
                      <a:srgbClr val="111111"/>
                    </a:solidFill>
                    <a:latin typeface="Aptos" pitchFamily="34" charset="0"/>
                    <a:ea typeface="Aptos" pitchFamily="34" charset="-122"/>
                    <a:cs typeface="Aptos" pitchFamily="34" charset="-120"/>
                  </a:rPr>
                  <a:t>- </a:t>
                </a:r>
                <a:r>
                  <a:rPr lang="en-US" sz="1320" dirty="0">
                    <a:solidFill>
                      <a:srgbClr val="FF0000"/>
                    </a:solidFill>
                    <a:latin typeface="Aptos" pitchFamily="34" charset="0"/>
                    <a:ea typeface="Aptos" pitchFamily="34" charset="-122"/>
                    <a:cs typeface="Aptos" pitchFamily="34" charset="-120"/>
                  </a:rPr>
                  <a:t>EB05 alone may not capture</a:t>
                </a:r>
                <a:r>
                  <a:rPr lang="en-US" sz="1320" dirty="0">
                    <a:solidFill>
                      <a:srgbClr val="111111"/>
                    </a:solidFill>
                    <a:latin typeface="Aptos" pitchFamily="34" charset="0"/>
                    <a:ea typeface="Aptos" pitchFamily="34" charset="-122"/>
                    <a:cs typeface="Aptos" pitchFamily="34" charset="-120"/>
                  </a:rPr>
                  <a:t> clinical seriousness, biological plausibility, literature support, or confounding, and also its model fit was unstable</a:t>
                </a:r>
              </a:p>
              <a:p>
                <a:endParaRPr lang="en-US" sz="1320" dirty="0">
                  <a:solidFill>
                    <a:srgbClr val="111111"/>
                  </a:solidFill>
                  <a:latin typeface="Aptos" pitchFamily="34" charset="0"/>
                  <a:ea typeface="Aptos" pitchFamily="34" charset="-122"/>
                  <a:cs typeface="Aptos" pitchFamily="34" charset="-120"/>
                </a:endParaRPr>
              </a:p>
              <a:p>
                <a:r>
                  <a:rPr lang="en-US" sz="1320" dirty="0">
                    <a:solidFill>
                      <a:srgbClr val="111111"/>
                    </a:solidFill>
                    <a:latin typeface="Aptos" pitchFamily="34" charset="0"/>
                    <a:ea typeface="Aptos" pitchFamily="34" charset="-122"/>
                    <a:cs typeface="Aptos" pitchFamily="34" charset="-120"/>
                  </a:rPr>
                  <a:t>- </a:t>
                </a:r>
                <a:r>
                  <a:rPr lang="en-US" sz="1320" dirty="0">
                    <a:solidFill>
                      <a:srgbClr val="FF0000"/>
                    </a:solidFill>
                    <a:latin typeface="Aptos" pitchFamily="34" charset="0"/>
                    <a:ea typeface="Aptos" pitchFamily="34" charset="-122"/>
                    <a:cs typeface="Aptos" pitchFamily="34" charset="-120"/>
                  </a:rPr>
                  <a:t>Five</a:t>
                </a:r>
                <a:r>
                  <a:rPr lang="en-US" sz="1320" dirty="0">
                    <a:solidFill>
                      <a:srgbClr val="111111"/>
                    </a:solidFill>
                    <a:latin typeface="Aptos" pitchFamily="34" charset="0"/>
                    <a:ea typeface="Aptos" pitchFamily="34" charset="-122"/>
                    <a:cs typeface="Aptos" pitchFamily="34" charset="-120"/>
                  </a:rPr>
                  <a:t> component </a:t>
                </a:r>
                <a:r>
                  <a:rPr lang="en-US" sz="1320" dirty="0" err="1">
                    <a:solidFill>
                      <a:srgbClr val="111111"/>
                    </a:solidFill>
                    <a:latin typeface="Aptos" pitchFamily="34" charset="0"/>
                    <a:ea typeface="Aptos" pitchFamily="34" charset="-122"/>
                    <a:cs typeface="Aptos" pitchFamily="34" charset="-120"/>
                  </a:rPr>
                  <a:t>subscores</a:t>
                </a:r>
                <a:r>
                  <a:rPr lang="en-US" sz="1320" dirty="0">
                    <a:solidFill>
                      <a:srgbClr val="111111"/>
                    </a:solidFill>
                    <a:latin typeface="Aptos" pitchFamily="34" charset="0"/>
                    <a:ea typeface="Aptos" pitchFamily="34" charset="-122"/>
                    <a:cs typeface="Aptos" pitchFamily="34" charset="-120"/>
                  </a:rPr>
                  <a:t> were measured and normalized within each drug and combined.</a:t>
                </a:r>
              </a:p>
              <a:p>
                <a:pPr marL="285750" indent="-285750">
                  <a:buFontTx/>
                  <a:buChar char="-"/>
                </a:pPr>
                <a:endParaRPr lang="en-US" sz="1320" dirty="0"/>
              </a:p>
              <a:p>
                <a:r>
                  <a:rPr lang="en-US" sz="1320" dirty="0">
                    <a:solidFill>
                      <a:srgbClr val="111111"/>
                    </a:solidFill>
                    <a:latin typeface="Aptos" pitchFamily="34" charset="0"/>
                    <a:ea typeface="Aptos" pitchFamily="34" charset="-122"/>
                    <a:cs typeface="Aptos" pitchFamily="34" charset="-120"/>
                  </a:rPr>
                  <a:t>- </a:t>
                </a:r>
                <a:r>
                  <a:rPr lang="en-US" sz="1320" dirty="0">
                    <a:solidFill>
                      <a:srgbClr val="FF0000"/>
                    </a:solidFill>
                    <a:latin typeface="Aptos" pitchFamily="34" charset="0"/>
                    <a:ea typeface="Aptos" pitchFamily="34" charset="-122"/>
                    <a:cs typeface="Aptos" pitchFamily="34" charset="-120"/>
                  </a:rPr>
                  <a:t>Evaluation</a:t>
                </a:r>
                <a:r>
                  <a:rPr lang="en-US" sz="1320" dirty="0">
                    <a:solidFill>
                      <a:srgbClr val="111111"/>
                    </a:solidFill>
                    <a:latin typeface="Aptos" pitchFamily="34" charset="0"/>
                    <a:ea typeface="Aptos" pitchFamily="34" charset="-122"/>
                    <a:cs typeface="Aptos" pitchFamily="34" charset="-120"/>
                  </a:rPr>
                  <a:t>: Known labeled ADRs were used as positive controls for ranking performance.</a:t>
                </a:r>
                <a:br>
                  <a:rPr lang="en-US" sz="1320" dirty="0">
                    <a:solidFill>
                      <a:srgbClr val="111111"/>
                    </a:solidFill>
                    <a:latin typeface="Aptos" pitchFamily="34" charset="0"/>
                    <a:ea typeface="Aptos" pitchFamily="34" charset="-122"/>
                    <a:cs typeface="Aptos" pitchFamily="34" charset="-120"/>
                  </a:rPr>
                </a:br>
                <a:endParaRPr lang="en-US" sz="1320" dirty="0">
                  <a:solidFill>
                    <a:srgbClr val="111111"/>
                  </a:solidFill>
                  <a:latin typeface="Aptos" pitchFamily="34" charset="0"/>
                  <a:ea typeface="Aptos" pitchFamily="34" charset="-122"/>
                  <a:cs typeface="Aptos" pitchFamily="34" charset="-120"/>
                </a:endParaRPr>
              </a:p>
              <a:p>
                <a:r>
                  <a:rPr lang="en-US" sz="1320" dirty="0">
                    <a:solidFill>
                      <a:srgbClr val="111111"/>
                    </a:solidFill>
                    <a:latin typeface="Aptos" pitchFamily="34" charset="0"/>
                    <a:ea typeface="Aptos" pitchFamily="34" charset="-122"/>
                    <a:cs typeface="Aptos" pitchFamily="34" charset="-120"/>
                  </a:rPr>
                  <a:t>- lift@10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320" i="1" smtClean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320" b="0" i="1" smtClean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</a:rPr>
                          <m:t>𝑇h𝑒</m:t>
                        </m:r>
                        <m:r>
                          <a:rPr lang="en-US" sz="1320" b="0" i="1" smtClean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320" b="0" i="1" smtClean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</a:rPr>
                          <m:t>𝑛𝑢𝑚𝑏𝑒𝑟</m:t>
                        </m:r>
                        <m:r>
                          <a:rPr lang="en-US" sz="1320" b="0" i="1" smtClean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320" b="0" i="1" smtClean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</a:rPr>
                          <m:t>𝑜𝑓</m:t>
                        </m:r>
                        <m:r>
                          <a:rPr lang="en-US" sz="1320" b="0" i="1" smtClean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</a:rPr>
                          <m:t> "</m:t>
                        </m:r>
                        <m:r>
                          <a:rPr lang="en-US" sz="1320" b="0" i="1" smtClean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</a:rPr>
                          <m:t>𝑎𝑙𝑟𝑒𝑎𝑑𝑦</m:t>
                        </m:r>
                        <m:r>
                          <m:rPr>
                            <m:lit/>
                          </m:rPr>
                          <a:rPr lang="en-US" sz="1320" b="0" i="1" smtClean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n-US" sz="1320" b="0" i="1" smtClean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</a:rPr>
                          <m:t>𝑙𝑎𝑏𝑒𝑙𝑒𝑑</m:t>
                        </m:r>
                        <m:r>
                          <m:rPr>
                            <m:lit/>
                          </m:rPr>
                          <a:rPr lang="en-US" sz="1320" b="0" i="1" smtClean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</a:rPr>
                          <m:t>"</m:t>
                        </m:r>
                        <m:r>
                          <a:rPr lang="en-US" sz="1320" b="0" i="1" smtClean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</a:rPr>
                          <m:t>𝑎𝑚𝑜𝑛𝑔</m:t>
                        </m:r>
                        <m:r>
                          <a:rPr lang="en-US" sz="1320" b="0" i="1" smtClean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320" b="0" i="1" smtClean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</a:rPr>
                          <m:t>𝑡𝑜𝑝</m:t>
                        </m:r>
                        <m:r>
                          <a:rPr lang="en-US" sz="1320" b="0" i="1" smtClean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</a:rPr>
                          <m:t> 10</m:t>
                        </m:r>
                      </m:num>
                      <m:den>
                        <m:r>
                          <a:rPr lang="en-US" sz="1320" b="0" i="1" smtClean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</a:rPr>
                          <m:t>𝑡𝑜𝑡𝑎𝑙</m:t>
                        </m:r>
                        <m:r>
                          <a:rPr lang="en-US" sz="1320" b="0" i="1" smtClean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320" b="0" i="1" smtClean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</a:rPr>
                          <m:t>𝑛𝑢𝑚𝑏𝑒𝑟</m:t>
                        </m:r>
                        <m:r>
                          <a:rPr lang="en-US" sz="1320" b="0" i="1" smtClean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320" b="0" i="1" smtClean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</a:rPr>
                          <m:t>𝑜𝑓</m:t>
                        </m:r>
                        <m:r>
                          <a:rPr lang="en-US" sz="1320" b="0" i="1" smtClean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</a:rPr>
                          <m:t> "</m:t>
                        </m:r>
                        <m:r>
                          <a:rPr lang="en-US" sz="1320" b="0" i="1" smtClean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</a:rPr>
                          <m:t>𝑎𝑙𝑟𝑒𝑎𝑑𝑦</m:t>
                        </m:r>
                        <m:r>
                          <m:rPr>
                            <m:lit/>
                          </m:rPr>
                          <a:rPr lang="en-US" sz="1320" b="0" i="1" smtClean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n-US" sz="1320" b="0" i="1" smtClean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</a:rPr>
                          <m:t>𝑙𝑎𝑏𝑒𝑙𝑒𝑑</m:t>
                        </m:r>
                        <m:r>
                          <m:rPr>
                            <m:lit/>
                          </m:rPr>
                          <a:rPr lang="en-US" sz="1320" b="0" i="1" smtClean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</a:rPr>
                          <m:t>"</m:t>
                        </m:r>
                        <m:r>
                          <a:rPr lang="en-US" sz="1320" b="0" i="1" smtClean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</a:rPr>
                          <m:t>/ </m:t>
                        </m:r>
                        <m:r>
                          <a:rPr lang="en-US" sz="1320" b="0" i="1" smtClean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</a:rPr>
                          <m:t>𝑡𝑜𝑡𝑎𝑙</m:t>
                        </m:r>
                        <m:r>
                          <a:rPr lang="en-US" sz="1320" b="0" i="1" smtClean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320" b="0" i="1" smtClean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</a:rPr>
                          <m:t>𝑛𝑢𝑚𝑏𝑒𝑟</m:t>
                        </m:r>
                        <m:r>
                          <a:rPr lang="en-US" sz="1320" b="0" i="1" smtClean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320" b="0" i="1" smtClean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</a:rPr>
                          <m:t>𝑜𝑓</m:t>
                        </m:r>
                        <m:r>
                          <a:rPr lang="en-US" sz="1320" b="0" i="1" smtClean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320" b="0" i="1" smtClean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</a:rPr>
                          <m:t>𝑃𝑇𝑠</m:t>
                        </m:r>
                      </m:den>
                    </m:f>
                  </m:oMath>
                </a14:m>
                <a:endParaRPr lang="en-US" sz="1320" dirty="0"/>
              </a:p>
            </p:txBody>
          </p:sp>
        </mc:Choice>
        <mc:Fallback xmlns="">
          <p:sp>
            <p:nvSpPr>
              <p:cNvPr id="5" name="Text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2084" y="1304262"/>
                <a:ext cx="4892040" cy="1676681"/>
              </a:xfrm>
              <a:prstGeom prst="rect">
                <a:avLst/>
              </a:prstGeom>
              <a:blipFill>
                <a:blip r:embed="rId3"/>
                <a:stretch>
                  <a:fillRect l="-1868" t="-1455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hape 4"/>
          <p:cNvSpPr/>
          <p:nvPr/>
        </p:nvSpPr>
        <p:spPr>
          <a:xfrm>
            <a:off x="539496" y="3323844"/>
            <a:ext cx="4846320" cy="342900"/>
          </a:xfrm>
          <a:prstGeom prst="rect">
            <a:avLst/>
          </a:prstGeom>
          <a:solidFill>
            <a:srgbClr val="F4F6F7"/>
          </a:solidFill>
          <a:ln w="5080">
            <a:solidFill>
              <a:srgbClr val="D9DEE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369564"/>
            <a:ext cx="2180844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111111"/>
                </a:solidFill>
              </a:rPr>
              <a:t>Component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962656" y="3369564"/>
            <a:ext cx="2180844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11111"/>
                </a:solidFill>
              </a:rPr>
              <a:t>Operational definition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39496" y="3666744"/>
            <a:ext cx="4846320" cy="342900"/>
          </a:xfrm>
          <a:prstGeom prst="rect">
            <a:avLst/>
          </a:prstGeom>
          <a:solidFill>
            <a:srgbClr val="FFFFFF"/>
          </a:solidFill>
          <a:ln w="5080">
            <a:solidFill>
              <a:srgbClr val="D9DEE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3712464"/>
            <a:ext cx="1749345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111111"/>
                </a:solidFill>
              </a:rPr>
              <a:t>dispro</a:t>
            </a:r>
            <a:endParaRPr lang="en-US" sz="1020" dirty="0"/>
          </a:p>
        </p:txBody>
      </p:sp>
      <p:sp>
        <p:nvSpPr>
          <p:cNvPr id="11" name="Text 9"/>
          <p:cNvSpPr/>
          <p:nvPr/>
        </p:nvSpPr>
        <p:spPr>
          <a:xfrm>
            <a:off x="2398569" y="3712464"/>
            <a:ext cx="2744931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dirty="0">
                <a:solidFill>
                  <a:srgbClr val="111111"/>
                </a:solidFill>
              </a:rPr>
              <a:t>log(EB05)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39496" y="4009644"/>
            <a:ext cx="4846320" cy="342900"/>
          </a:xfrm>
          <a:prstGeom prst="rect">
            <a:avLst/>
          </a:prstGeom>
          <a:solidFill>
            <a:srgbClr val="FFFFFF"/>
          </a:solidFill>
          <a:ln w="5080">
            <a:solidFill>
              <a:srgbClr val="D9DEE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4055364"/>
            <a:ext cx="1627632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111111"/>
                </a:solidFill>
              </a:rPr>
              <a:t>literature</a:t>
            </a:r>
            <a:endParaRPr lang="en-US" sz="1020" dirty="0"/>
          </a:p>
        </p:txBody>
      </p:sp>
      <p:sp>
        <p:nvSpPr>
          <p:cNvPr id="14" name="Text 12"/>
          <p:cNvSpPr/>
          <p:nvPr/>
        </p:nvSpPr>
        <p:spPr>
          <a:xfrm>
            <a:off x="2041864" y="4055364"/>
            <a:ext cx="3101636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r">
              <a:buNone/>
            </a:pPr>
            <a:r>
              <a:rPr lang="en-US" sz="1000" dirty="0">
                <a:solidFill>
                  <a:srgbClr val="111111"/>
                </a:solidFill>
              </a:rPr>
              <a:t>Semantic embedding similarity to FAERS-cited papers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39496" y="4352544"/>
            <a:ext cx="4846320" cy="342900"/>
          </a:xfrm>
          <a:prstGeom prst="rect">
            <a:avLst/>
          </a:prstGeom>
          <a:solidFill>
            <a:srgbClr val="FFFFFF"/>
          </a:solidFill>
          <a:ln w="5080">
            <a:solidFill>
              <a:srgbClr val="D9DEE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4398264"/>
            <a:ext cx="1627632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111111"/>
                </a:solidFill>
              </a:rPr>
              <a:t>severity</a:t>
            </a:r>
            <a:endParaRPr lang="en-US" sz="1020" dirty="0"/>
          </a:p>
        </p:txBody>
      </p:sp>
      <p:sp>
        <p:nvSpPr>
          <p:cNvPr id="17" name="Text 15"/>
          <p:cNvSpPr/>
          <p:nvPr/>
        </p:nvSpPr>
        <p:spPr>
          <a:xfrm>
            <a:off x="2221992" y="4398264"/>
            <a:ext cx="2921508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r">
              <a:buNone/>
            </a:pPr>
            <a:r>
              <a:rPr lang="en-US" sz="1000" dirty="0">
                <a:solidFill>
                  <a:srgbClr val="111111"/>
                </a:solidFill>
              </a:rPr>
              <a:t>Semantic embedding similarity to severe outcomes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39496" y="4695444"/>
            <a:ext cx="4846320" cy="342900"/>
          </a:xfrm>
          <a:prstGeom prst="rect">
            <a:avLst/>
          </a:prstGeom>
          <a:solidFill>
            <a:srgbClr val="FFFFFF"/>
          </a:solidFill>
          <a:ln w="5080">
            <a:solidFill>
              <a:srgbClr val="D9DEE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4741164"/>
            <a:ext cx="1627632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111111"/>
                </a:solidFill>
              </a:rPr>
              <a:t>plausibility</a:t>
            </a:r>
            <a:endParaRPr lang="en-US" sz="1020" dirty="0"/>
          </a:p>
        </p:txBody>
      </p:sp>
      <p:sp>
        <p:nvSpPr>
          <p:cNvPr id="20" name="Text 18"/>
          <p:cNvSpPr/>
          <p:nvPr/>
        </p:nvSpPr>
        <p:spPr>
          <a:xfrm>
            <a:off x="2467992" y="4741164"/>
            <a:ext cx="2675508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dirty="0">
                <a:solidFill>
                  <a:srgbClr val="111111"/>
                </a:solidFill>
              </a:rPr>
              <a:t>similarity to drug’s labeled ADR profile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39496" y="5038344"/>
            <a:ext cx="4846320" cy="342900"/>
          </a:xfrm>
          <a:prstGeom prst="rect">
            <a:avLst/>
          </a:prstGeom>
          <a:solidFill>
            <a:srgbClr val="FFFFFF"/>
          </a:solidFill>
          <a:ln w="5080">
            <a:solidFill>
              <a:srgbClr val="D9DEE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" y="5084064"/>
            <a:ext cx="1627632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111111"/>
                </a:solidFill>
              </a:rPr>
              <a:t>low confounding</a:t>
            </a:r>
            <a:endParaRPr lang="en-US" sz="1020" dirty="0"/>
          </a:p>
        </p:txBody>
      </p:sp>
      <p:sp>
        <p:nvSpPr>
          <p:cNvPr id="23" name="Text 21"/>
          <p:cNvSpPr/>
          <p:nvPr/>
        </p:nvSpPr>
        <p:spPr>
          <a:xfrm>
            <a:off x="2276856" y="5084064"/>
            <a:ext cx="2866644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dirty="0">
                <a:solidFill>
                  <a:srgbClr val="111111"/>
                </a:solidFill>
              </a:rPr>
              <a:t>fewer co-suspect drugs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502920" y="5685282"/>
            <a:ext cx="11113954" cy="475488"/>
          </a:xfrm>
          <a:prstGeom prst="rect">
            <a:avLst/>
          </a:prstGeom>
          <a:solidFill>
            <a:srgbClr val="EAF4EF"/>
          </a:solidFill>
          <a:ln w="9525">
            <a:solidFill>
              <a:srgbClr val="C6DCCF"/>
            </a:solidFill>
          </a:ln>
        </p:spPr>
        <p:txBody>
          <a:bodyPr wrap="square" lIns="1397" tIns="1397" rIns="1397" bIns="1397" rtlCol="0" anchor="ctr">
            <a:normAutofit/>
          </a:bodyPr>
          <a:lstStyle/>
          <a:p>
            <a:pPr marL="0" indent="0" algn="ctr">
              <a:buNone/>
            </a:pPr>
            <a:r>
              <a:rPr lang="en-US" sz="1330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 summary: 93 drugs evaluated. Median lift@10 was 1.30 for the five-component score vs 1.01 for EB05 alone; lift &gt; 1 in 77% vs 51% of drugs.</a:t>
            </a:r>
            <a:endParaRPr lang="en-US" sz="1330" dirty="0"/>
          </a:p>
        </p:txBody>
      </p:sp>
      <p:sp>
        <p:nvSpPr>
          <p:cNvPr id="26" name="Text 23"/>
          <p:cNvSpPr/>
          <p:nvPr/>
        </p:nvSpPr>
        <p:spPr>
          <a:xfrm>
            <a:off x="502920" y="6464808"/>
            <a:ext cx="5303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888888"/>
                </a:solidFill>
              </a:rPr>
              <a:t>AIWSNYC Hackathon | FAERS signal detection</a:t>
            </a:r>
            <a:endParaRPr lang="en-US" sz="75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77777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791A6B7-8C2C-042B-1868-E8CB54F08084}"/>
              </a:ext>
            </a:extLst>
          </p:cNvPr>
          <p:cNvSpPr txBox="1"/>
          <p:nvPr/>
        </p:nvSpPr>
        <p:spPr>
          <a:xfrm>
            <a:off x="5730832" y="3666744"/>
            <a:ext cx="172034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- For example, use an LLM embedding model to calculate the cosine similarity between “rash” and “death.”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716F3C4-75DD-DB68-3E14-C8180E55A675}"/>
              </a:ext>
            </a:extLst>
          </p:cNvPr>
          <p:cNvCxnSpPr>
            <a:cxnSpLocks/>
            <a:endCxn id="32" idx="1"/>
          </p:cNvCxnSpPr>
          <p:nvPr/>
        </p:nvCxnSpPr>
        <p:spPr>
          <a:xfrm flipV="1">
            <a:off x="5226854" y="4174576"/>
            <a:ext cx="503978" cy="3608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6" name="Picture 35">
            <a:extLst>
              <a:ext uri="{FF2B5EF4-FFF2-40B4-BE49-F238E27FC236}">
                <a16:creationId xmlns:a16="http://schemas.microsoft.com/office/drawing/2014/main" id="{28B004E6-96A5-5B1A-B679-8A669D7259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9897" y="1214421"/>
            <a:ext cx="5699368" cy="1137318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EDE9D0B3-7F1F-BEEF-F6B4-F96309B877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00553" y="2637489"/>
            <a:ext cx="4051951" cy="272364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1111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Conclusions &amp; Limitations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61134" y="1264603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E6B55"/>
                </a:solidFill>
              </a:rPr>
              <a:t>Conclusion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61134" y="1676083"/>
            <a:ext cx="4945306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Autofit/>
          </a:bodyPr>
          <a:lstStyle/>
          <a:p>
            <a:r>
              <a:rPr lang="en-US" sz="1400" dirty="0">
                <a:latin typeface="Aptos" pitchFamily="34" charset="0"/>
                <a:ea typeface="Aptos" pitchFamily="34" charset="-122"/>
                <a:cs typeface="Aptos" pitchFamily="34" charset="-120"/>
              </a:rPr>
              <a:t>- Built an automatic, LLM-assisted pipeline from raw FAERS reports to ranked candidates for potentially unlabeled ADRs.</a:t>
            </a:r>
          </a:p>
          <a:p>
            <a:pPr marL="285750" indent="-285750">
              <a:buFontTx/>
              <a:buChar char="-"/>
            </a:pPr>
            <a:endParaRPr lang="en-US" sz="1400" dirty="0"/>
          </a:p>
          <a:p>
            <a:r>
              <a:rPr lang="en-US" sz="1400" dirty="0">
                <a:latin typeface="Aptos" pitchFamily="34" charset="0"/>
                <a:ea typeface="Aptos" pitchFamily="34" charset="-122"/>
                <a:cs typeface="Aptos" pitchFamily="34" charset="-120"/>
              </a:rPr>
              <a:t>- LLM stages transform noisy PTs and long product labels into structured, reviewable decisions using its semantic understanding.</a:t>
            </a:r>
          </a:p>
          <a:p>
            <a:endParaRPr lang="en-US" sz="1400" dirty="0"/>
          </a:p>
          <a:p>
            <a:r>
              <a:rPr lang="en-US" sz="1400" dirty="0"/>
              <a:t>- </a:t>
            </a:r>
            <a:r>
              <a:rPr lang="en-US" sz="1400" dirty="0">
                <a:latin typeface="Aptos" pitchFamily="34" charset="0"/>
                <a:ea typeface="Aptos" pitchFamily="34" charset="-122"/>
                <a:cs typeface="Aptos" pitchFamily="34" charset="-120"/>
              </a:rPr>
              <a:t>The final score appears more useful than EB05 alone for ranking known ADRs near the top.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385562" y="1264603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B75C35"/>
                </a:solidFill>
              </a:rPr>
              <a:t>Limitations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12994" y="1676083"/>
            <a:ext cx="4945306" cy="416340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Autofit/>
          </a:bodyPr>
          <a:lstStyle/>
          <a:p>
            <a:r>
              <a:rPr lang="en-US" sz="1400" dirty="0">
                <a:latin typeface="Aptos" pitchFamily="34" charset="0"/>
                <a:ea typeface="Aptos" pitchFamily="34" charset="-122"/>
                <a:cs typeface="Aptos" pitchFamily="34" charset="-120"/>
              </a:rPr>
              <a:t>- LLM-based PT triage and label comparison were not closely validated. In fact, the threshold for considering two terms equivalent needs further investigation, </a:t>
            </a:r>
            <a:br>
              <a:rPr lang="en-US" sz="1400" dirty="0">
                <a:latin typeface="Aptos" pitchFamily="34" charset="0"/>
                <a:ea typeface="Aptos" pitchFamily="34" charset="-122"/>
                <a:cs typeface="Aptos" pitchFamily="34" charset="-120"/>
              </a:rPr>
            </a:br>
            <a:endParaRPr lang="en-US" sz="1400" dirty="0">
              <a:latin typeface="Aptos" pitchFamily="34" charset="0"/>
              <a:ea typeface="Aptos" pitchFamily="34" charset="-122"/>
              <a:cs typeface="Aptos" pitchFamily="34" charset="-120"/>
            </a:endParaRPr>
          </a:p>
          <a:p>
            <a:pPr lvl="1"/>
            <a:r>
              <a:rPr lang="en-US" sz="1400" dirty="0">
                <a:latin typeface="Aptos" pitchFamily="34" charset="0"/>
                <a:ea typeface="Aptos" pitchFamily="34" charset="-122"/>
                <a:cs typeface="Aptos" pitchFamily="34" charset="-120"/>
              </a:rPr>
              <a:t>- e.g. Acute kidney injury (novel) vs Renal failure (labeled) for febuxostat.</a:t>
            </a:r>
          </a:p>
          <a:p>
            <a:endParaRPr lang="en-US" sz="1400" dirty="0">
              <a:latin typeface="Aptos" pitchFamily="34" charset="0"/>
              <a:ea typeface="Aptos" pitchFamily="34" charset="-122"/>
              <a:cs typeface="Aptos" pitchFamily="34" charset="-120"/>
            </a:endParaRPr>
          </a:p>
          <a:p>
            <a:r>
              <a:rPr lang="en-US" sz="1400" dirty="0">
                <a:latin typeface="Aptos" pitchFamily="34" charset="0"/>
                <a:ea typeface="Aptos" pitchFamily="34" charset="-122"/>
                <a:cs typeface="Aptos" pitchFamily="34" charset="-120"/>
              </a:rPr>
              <a:t>- Accounting for brand, route, and formulation requires more complete product-level data.</a:t>
            </a:r>
          </a:p>
          <a:p>
            <a:pPr marL="171450" indent="-171450">
              <a:buFontTx/>
              <a:buChar char="-"/>
            </a:pPr>
            <a:endParaRPr lang="en-US" sz="1400" dirty="0">
              <a:latin typeface="Aptos" pitchFamily="34" charset="0"/>
              <a:ea typeface="Aptos" pitchFamily="34" charset="-122"/>
              <a:cs typeface="Aptos" pitchFamily="34" charset="-120"/>
            </a:endParaRPr>
          </a:p>
          <a:p>
            <a:r>
              <a:rPr lang="en-US" sz="1400" dirty="0">
                <a:latin typeface="Aptos" pitchFamily="34" charset="0"/>
                <a:ea typeface="Aptos" pitchFamily="34" charset="-122"/>
                <a:cs typeface="Aptos" pitchFamily="34" charset="-120"/>
              </a:rPr>
              <a:t>- EBGM hyperparameter fitting was unstable; therefore, EB05 should be used only for screening and approximate ranking.</a:t>
            </a:r>
          </a:p>
          <a:p>
            <a:endParaRPr lang="en-US" sz="1400" dirty="0">
              <a:latin typeface="Aptos" pitchFamily="34" charset="0"/>
              <a:ea typeface="Aptos" pitchFamily="34" charset="-122"/>
              <a:cs typeface="Aptos" pitchFamily="34" charset="-120"/>
            </a:endParaRPr>
          </a:p>
          <a:p>
            <a:r>
              <a:rPr lang="en-US" sz="1400" dirty="0">
                <a:latin typeface="Aptos" pitchFamily="34" charset="0"/>
                <a:ea typeface="Aptos" pitchFamily="34" charset="-122"/>
                <a:cs typeface="Aptos" pitchFamily="34" charset="-120"/>
              </a:rPr>
              <a:t>- Equal score weights are untuned, and it can be learned from data and evaluated by each component (ablation study).</a:t>
            </a:r>
          </a:p>
          <a:p>
            <a:endParaRPr lang="en-US" sz="1400" dirty="0">
              <a:latin typeface="Aptos" pitchFamily="34" charset="0"/>
              <a:ea typeface="Aptos" pitchFamily="34" charset="-122"/>
              <a:cs typeface="Aptos" pitchFamily="34" charset="-120"/>
            </a:endParaRPr>
          </a:p>
          <a:p>
            <a:r>
              <a:rPr lang="en-US" sz="1400" dirty="0">
                <a:latin typeface="Aptos" pitchFamily="34" charset="0"/>
                <a:ea typeface="Aptos" pitchFamily="34" charset="-122"/>
                <a:cs typeface="Aptos" pitchFamily="34" charset="-120"/>
              </a:rPr>
              <a:t>- Literature, plausibility, and severity scores currently rely only on information within FAERS reports, but could be extended through automated PubMed searches for supporting evidence.</a:t>
            </a:r>
          </a:p>
        </p:txBody>
      </p:sp>
      <p:sp>
        <p:nvSpPr>
          <p:cNvPr id="18" name="Text 16"/>
          <p:cNvSpPr/>
          <p:nvPr/>
        </p:nvSpPr>
        <p:spPr>
          <a:xfrm>
            <a:off x="-1644284" y="4772900"/>
            <a:ext cx="7130684" cy="1476401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algn="r"/>
            <a:r>
              <a:rPr lang="en-US" sz="1200" dirty="0"/>
              <a:t>Reference:</a:t>
            </a:r>
          </a:p>
          <a:p>
            <a:pPr algn="r"/>
            <a:r>
              <a:rPr lang="en-US" sz="1200" dirty="0"/>
              <a:t>ICH E2A guideline</a:t>
            </a:r>
          </a:p>
          <a:p>
            <a:pPr marL="0" indent="0" algn="r">
              <a:buNone/>
            </a:pPr>
            <a:r>
              <a:rPr lang="en-US" sz="1200" dirty="0" err="1"/>
              <a:t>openEBGM</a:t>
            </a:r>
            <a:r>
              <a:rPr lang="en-US" sz="1200" dirty="0"/>
              <a:t>: Canida T, Ihrie J (2017) The R Journal</a:t>
            </a:r>
          </a:p>
          <a:p>
            <a:pPr marL="0" indent="0" algn="r">
              <a:buNone/>
            </a:pPr>
            <a:r>
              <a:rPr lang="en-US" sz="1200" dirty="0"/>
              <a:t>Data Mining at FDA -- White Paper</a:t>
            </a:r>
          </a:p>
        </p:txBody>
      </p:sp>
      <p:sp>
        <p:nvSpPr>
          <p:cNvPr id="19" name="Text 17"/>
          <p:cNvSpPr/>
          <p:nvPr/>
        </p:nvSpPr>
        <p:spPr>
          <a:xfrm>
            <a:off x="502920" y="6464808"/>
            <a:ext cx="5303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888888"/>
                </a:solidFill>
              </a:rPr>
              <a:t>AIWSNYC Hackathon | FAERS signal detection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77777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1304</TotalTime>
  <Words>1432</Words>
  <Application>Microsoft Office PowerPoint</Application>
  <PresentationFormat>Widescreen</PresentationFormat>
  <Paragraphs>159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LLM-assisted signal detection in FAERS</dc:title>
  <dc:subject>AIWSNYC Hackathon: LLM-assisted signal detection in FAERS</dc:subject>
  <dc:creator>Sojin Kim</dc:creator>
  <cp:lastModifiedBy>Kang, Eunchong</cp:lastModifiedBy>
  <cp:revision>9</cp:revision>
  <dcterms:created xsi:type="dcterms:W3CDTF">2026-07-14T23:05:28Z</dcterms:created>
  <dcterms:modified xsi:type="dcterms:W3CDTF">2026-07-15T21:08:47Z</dcterms:modified>
</cp:coreProperties>
</file>