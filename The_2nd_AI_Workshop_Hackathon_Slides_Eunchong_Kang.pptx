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133" autoAdjust="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17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MGPS: Multi-Item Gamma Poisson Shrinker</a:t>
            </a:r>
          </a:p>
          <a:p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EB05: </a:t>
            </a:r>
            <a:r>
              <a:rPr lang="en-US" dirty="0"/>
              <a:t>5th percentile of the posterior distribution of the EBGM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SPL: Structured Product Labeling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3970">
            <a:solidFill>
              <a:srgbClr val="2B5C8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77240"/>
            <a:ext cx="10927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LLM-assisted pharmacovigilance pipeline for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prioritizing potentially unlabeled adverse drug reactions from FAERS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22128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20" dirty="0">
                <a:solidFill>
                  <a:srgbClr val="2B5C8A"/>
                </a:solidFill>
              </a:rPr>
              <a:t>Hackathon Project for the 2nd AI Workshop NYC</a:t>
            </a:r>
            <a:endParaRPr lang="en-US" sz="1520" dirty="0"/>
          </a:p>
        </p:txBody>
      </p:sp>
      <p:sp>
        <p:nvSpPr>
          <p:cNvPr id="4" name="Shape 2"/>
          <p:cNvSpPr/>
          <p:nvPr/>
        </p:nvSpPr>
        <p:spPr>
          <a:xfrm>
            <a:off x="685800" y="2788920"/>
            <a:ext cx="10835640" cy="0"/>
          </a:xfrm>
          <a:prstGeom prst="line">
            <a:avLst/>
          </a:prstGeom>
          <a:noFill/>
          <a:ln w="12700">
            <a:solidFill>
              <a:srgbClr val="BFC7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1272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5C8A"/>
                </a:solidFill>
              </a:rPr>
              <a:t>Presenter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3401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Eunchong Kang 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31520" y="4006591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/>
              <a:t>Ph.D. Candidate, Department of Biostatistics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44114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</a:rPr>
              <a:t>The University of North Carolina at Chapel Hill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E8FB505-6C8A-8EAB-8DB1-A0CEFD7A1460}"/>
              </a:ext>
            </a:extLst>
          </p:cNvPr>
          <p:cNvGrpSpPr/>
          <p:nvPr/>
        </p:nvGrpSpPr>
        <p:grpSpPr>
          <a:xfrm>
            <a:off x="5225069" y="3063244"/>
            <a:ext cx="3542003" cy="3192930"/>
            <a:chOff x="5225069" y="3063244"/>
            <a:chExt cx="3542003" cy="3192930"/>
          </a:xfrm>
        </p:grpSpPr>
        <p:sp>
          <p:nvSpPr>
            <p:cNvPr id="15" name="Text 3">
              <a:extLst>
                <a:ext uri="{FF2B5EF4-FFF2-40B4-BE49-F238E27FC236}">
                  <a16:creationId xmlns:a16="http://schemas.microsoft.com/office/drawing/2014/main" id="{DB5B5CCA-7BE4-B1C2-3165-3ECE49985129}"/>
                </a:ext>
              </a:extLst>
            </p:cNvPr>
            <p:cNvSpPr/>
            <p:nvPr/>
          </p:nvSpPr>
          <p:spPr>
            <a:xfrm>
              <a:off x="5225070" y="3063244"/>
              <a:ext cx="3542002" cy="461768"/>
            </a:xfrm>
            <a:prstGeom prst="rect">
              <a:avLst/>
            </a:prstGeom>
            <a:solidFill>
              <a:srgbClr val="F6F8FA"/>
            </a:solidFill>
            <a:ln w="9525">
              <a:solidFill>
                <a:srgbClr val="BFC7CF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Step 0: FAERS reports</a:t>
              </a:r>
              <a:endParaRPr lang="en-US" sz="1050"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B1D91383-40C9-1CC9-DC19-3F4795F47602}"/>
                </a:ext>
              </a:extLst>
            </p:cNvPr>
            <p:cNvSpPr/>
            <p:nvPr/>
          </p:nvSpPr>
          <p:spPr>
            <a:xfrm>
              <a:off x="5225069" y="3745567"/>
              <a:ext cx="3542003" cy="461769"/>
            </a:xfrm>
            <a:prstGeom prst="rect">
              <a:avLst/>
            </a:prstGeom>
            <a:solidFill>
              <a:srgbClr val="EAF2F8"/>
            </a:solidFill>
            <a:ln w="9525">
              <a:solidFill>
                <a:srgbClr val="BFC7CF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Step 1: Statistical EBGM signals</a:t>
              </a:r>
              <a:endParaRPr lang="en-US" sz="1050" dirty="0"/>
            </a:p>
          </p:txBody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01F9687A-0BAA-409E-D2A6-AA69BE807B9F}"/>
                </a:ext>
              </a:extLst>
            </p:cNvPr>
            <p:cNvSpPr/>
            <p:nvPr/>
          </p:nvSpPr>
          <p:spPr>
            <a:xfrm>
              <a:off x="5225069" y="4432090"/>
              <a:ext cx="3542001" cy="461770"/>
            </a:xfrm>
            <a:prstGeom prst="rect">
              <a:avLst/>
            </a:prstGeom>
            <a:solidFill>
              <a:srgbClr val="F0EEF8"/>
            </a:solidFill>
            <a:ln w="9525">
              <a:solidFill>
                <a:srgbClr val="BFC7CF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Step 2: LLM PT triage</a:t>
              </a:r>
              <a:endParaRPr lang="en-US" sz="1050" dirty="0"/>
            </a:p>
          </p:txBody>
        </p:sp>
        <p:sp>
          <p:nvSpPr>
            <p:cNvPr id="28" name="Text 9">
              <a:extLst>
                <a:ext uri="{FF2B5EF4-FFF2-40B4-BE49-F238E27FC236}">
                  <a16:creationId xmlns:a16="http://schemas.microsoft.com/office/drawing/2014/main" id="{3828C2C1-25DE-4597-75F2-5B5386705220}"/>
                </a:ext>
              </a:extLst>
            </p:cNvPr>
            <p:cNvSpPr/>
            <p:nvPr/>
          </p:nvSpPr>
          <p:spPr>
            <a:xfrm>
              <a:off x="5225070" y="5113247"/>
              <a:ext cx="3542001" cy="461770"/>
            </a:xfrm>
            <a:prstGeom prst="rect">
              <a:avLst/>
            </a:prstGeom>
            <a:solidFill>
              <a:srgbClr val="F8EFEA"/>
            </a:solidFill>
            <a:ln w="9525">
              <a:solidFill>
                <a:srgbClr val="BFC7CF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Step 3: LLM label comparison</a:t>
              </a:r>
              <a:endParaRPr lang="en-US" sz="1050" dirty="0"/>
            </a:p>
          </p:txBody>
        </p:sp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17327532-E504-D73D-2FCE-4D96E32B96F8}"/>
                </a:ext>
              </a:extLst>
            </p:cNvPr>
            <p:cNvSpPr/>
            <p:nvPr/>
          </p:nvSpPr>
          <p:spPr>
            <a:xfrm rot="5400000">
              <a:off x="6881769" y="3518890"/>
              <a:ext cx="228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66666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32" name="Text 11">
              <a:extLst>
                <a:ext uri="{FF2B5EF4-FFF2-40B4-BE49-F238E27FC236}">
                  <a16:creationId xmlns:a16="http://schemas.microsoft.com/office/drawing/2014/main" id="{4BE62523-57A9-5A36-E60F-54AA67B1997E}"/>
                </a:ext>
              </a:extLst>
            </p:cNvPr>
            <p:cNvSpPr/>
            <p:nvPr/>
          </p:nvSpPr>
          <p:spPr>
            <a:xfrm>
              <a:off x="5225071" y="5794404"/>
              <a:ext cx="3542001" cy="461770"/>
            </a:xfrm>
            <a:prstGeom prst="rect">
              <a:avLst/>
            </a:prstGeom>
            <a:solidFill>
              <a:srgbClr val="EAF4EF"/>
            </a:solidFill>
            <a:ln w="9525">
              <a:solidFill>
                <a:srgbClr val="BFC7CF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Step 4: Prioritized novel ADRs</a:t>
              </a:r>
              <a:endParaRPr lang="en-US" sz="1050" dirty="0"/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1A9DC7C8-DC57-6D38-3203-A39FA7BCCAFD}"/>
                </a:ext>
              </a:extLst>
            </p:cNvPr>
            <p:cNvSpPr/>
            <p:nvPr/>
          </p:nvSpPr>
          <p:spPr>
            <a:xfrm rot="5400000">
              <a:off x="6881769" y="4212703"/>
              <a:ext cx="228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66666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36" name="Text 10">
              <a:extLst>
                <a:ext uri="{FF2B5EF4-FFF2-40B4-BE49-F238E27FC236}">
                  <a16:creationId xmlns:a16="http://schemas.microsoft.com/office/drawing/2014/main" id="{E1F3FB1D-14D9-93C5-B33C-5C4822B29801}"/>
                </a:ext>
              </a:extLst>
            </p:cNvPr>
            <p:cNvSpPr/>
            <p:nvPr/>
          </p:nvSpPr>
          <p:spPr>
            <a:xfrm rot="5400000">
              <a:off x="6881769" y="4900732"/>
              <a:ext cx="228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66666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38" name="Text 10">
              <a:extLst>
                <a:ext uri="{FF2B5EF4-FFF2-40B4-BE49-F238E27FC236}">
                  <a16:creationId xmlns:a16="http://schemas.microsoft.com/office/drawing/2014/main" id="{80B55306-3C3B-B8BB-2EC5-CF5F4388BC96}"/>
                </a:ext>
              </a:extLst>
            </p:cNvPr>
            <p:cNvSpPr/>
            <p:nvPr/>
          </p:nvSpPr>
          <p:spPr>
            <a:xfrm rot="5400000">
              <a:off x="6881769" y="5575017"/>
              <a:ext cx="228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66666"/>
                  </a:solidFill>
                </a:rPr>
                <a:t>→</a:t>
              </a:r>
              <a:endParaRPr lang="en-US" sz="1600" dirty="0"/>
            </a:p>
          </p:txBody>
        </p:sp>
      </p:grpSp>
      <p:sp>
        <p:nvSpPr>
          <p:cNvPr id="43" name="Text 12">
            <a:extLst>
              <a:ext uri="{FF2B5EF4-FFF2-40B4-BE49-F238E27FC236}">
                <a16:creationId xmlns:a16="http://schemas.microsoft.com/office/drawing/2014/main" id="{5DE50656-A63E-C37F-D81B-728BA0ACBF5F}"/>
              </a:ext>
            </a:extLst>
          </p:cNvPr>
          <p:cNvSpPr/>
          <p:nvPr/>
        </p:nvSpPr>
        <p:spPr>
          <a:xfrm>
            <a:off x="9334479" y="3300985"/>
            <a:ext cx="2571100" cy="1181618"/>
          </a:xfrm>
          <a:prstGeom prst="rect">
            <a:avLst/>
          </a:prstGeom>
          <a:solidFill>
            <a:srgbClr val="FFFFFF"/>
          </a:solidFill>
          <a:ln w="9525">
            <a:solidFill>
              <a:srgbClr val="BFC7CF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/>
              <a:t>Challenge: Disproportionality analysis generates many drug–event signals, but reviewers need a </a:t>
            </a:r>
            <a:r>
              <a:rPr lang="en-US" sz="1600" dirty="0">
                <a:solidFill>
                  <a:srgbClr val="FF0000"/>
                </a:solidFill>
              </a:rPr>
              <a:t>prioritized</a:t>
            </a:r>
            <a:r>
              <a:rPr lang="en-US" sz="1600" dirty="0"/>
              <a:t> set of </a:t>
            </a:r>
            <a:r>
              <a:rPr lang="en-US" sz="1600" dirty="0">
                <a:solidFill>
                  <a:srgbClr val="FF0000"/>
                </a:solidFill>
              </a:rPr>
              <a:t>plausible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unlabeled</a:t>
            </a:r>
            <a:r>
              <a:rPr lang="en-US" sz="1600" dirty="0"/>
              <a:t> ADRs.</a:t>
            </a: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2F0A4A9E-25A7-35DD-CB56-09E8F2755FFD}"/>
              </a:ext>
            </a:extLst>
          </p:cNvPr>
          <p:cNvSpPr/>
          <p:nvPr/>
        </p:nvSpPr>
        <p:spPr>
          <a:xfrm>
            <a:off x="9334479" y="5061203"/>
            <a:ext cx="2571100" cy="667513"/>
          </a:xfrm>
          <a:prstGeom prst="rect">
            <a:avLst/>
          </a:prstGeom>
          <a:solidFill>
            <a:srgbClr val="FFFFFF"/>
          </a:solidFill>
          <a:ln w="9525">
            <a:solidFill>
              <a:srgbClr val="BFC7C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/>
              <a:t>LLM-assisted post-statistical analysis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3035714-32D1-B3D2-A15E-80A77F06AEDA}"/>
              </a:ext>
            </a:extLst>
          </p:cNvPr>
          <p:cNvCxnSpPr>
            <a:cxnSpLocks/>
          </p:cNvCxnSpPr>
          <p:nvPr/>
        </p:nvCxnSpPr>
        <p:spPr>
          <a:xfrm>
            <a:off x="8882157" y="3976450"/>
            <a:ext cx="337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ight Bracket 68">
            <a:extLst>
              <a:ext uri="{FF2B5EF4-FFF2-40B4-BE49-F238E27FC236}">
                <a16:creationId xmlns:a16="http://schemas.microsoft.com/office/drawing/2014/main" id="{B400AFFC-FFB4-94F9-2F2A-3784C17339C9}"/>
              </a:ext>
            </a:extLst>
          </p:cNvPr>
          <p:cNvSpPr/>
          <p:nvPr/>
        </p:nvSpPr>
        <p:spPr>
          <a:xfrm>
            <a:off x="8882157" y="4581144"/>
            <a:ext cx="133524" cy="1499610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3B1A7EA-3694-A30C-F06F-DE26A7A4B5B6}"/>
              </a:ext>
            </a:extLst>
          </p:cNvPr>
          <p:cNvCxnSpPr>
            <a:cxnSpLocks/>
          </p:cNvCxnSpPr>
          <p:nvPr/>
        </p:nvCxnSpPr>
        <p:spPr>
          <a:xfrm>
            <a:off x="9009119" y="5328256"/>
            <a:ext cx="2102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Background, Dataset, and Unit of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" y="904409"/>
            <a:ext cx="42711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8A"/>
                </a:solidFill>
              </a:rPr>
              <a:t>Source Data: The FDA Adverse Event Reporting System (FAERS) quarterly data in 2024Q1–2026Q1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591056"/>
            <a:ext cx="5486400" cy="164014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Each FAERS report lists suspect active ingredients (drugs) and adverse event as MedDRA Preferred Terms (</a:t>
            </a:r>
            <a:r>
              <a:rPr lang="en-US" sz="140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PTs.</a:t>
            </a: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</a:p>
          <a:p>
            <a:endParaRPr lang="en-US" sz="140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The unit of analysis: </a:t>
            </a:r>
            <a:r>
              <a:rPr lang="en-US" sz="14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drug-PT pair</a:t>
            </a: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endParaRPr lang="en-US" sz="140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Disproportionality analysis tests whether a drug–PT pair is reported more often than expected.</a:t>
            </a:r>
          </a:p>
          <a:p>
            <a:endParaRPr lang="en-US" sz="138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pic>
        <p:nvPicPr>
          <p:cNvPr id="18" name="Image 0" descr="/mnt/data/nb_assets/cell4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504" y="3330733"/>
            <a:ext cx="9198407" cy="28346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247361" y="6165373"/>
            <a:ext cx="7446317" cy="299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464808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AIWSNYC Hackathon | FAERS signal detection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70AD4D19-4465-8CAB-C8C7-2EBC41FC4471}"/>
              </a:ext>
            </a:extLst>
          </p:cNvPr>
          <p:cNvSpPr/>
          <p:nvPr/>
        </p:nvSpPr>
        <p:spPr>
          <a:xfrm>
            <a:off x="6634793" y="131221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3.15M</a:t>
            </a:r>
            <a:endParaRPr lang="en-US" sz="23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BA6CBF2D-7AA8-1F6B-B953-9B2CAB3696BC}"/>
              </a:ext>
            </a:extLst>
          </p:cNvPr>
          <p:cNvSpPr/>
          <p:nvPr/>
        </p:nvSpPr>
        <p:spPr>
          <a:xfrm>
            <a:off x="6634793" y="166882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FAERS reports</a:t>
            </a:r>
            <a:endParaRPr lang="en-US" sz="95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749A1D76-8A0E-D2BC-CB67-8CB26E550278}"/>
              </a:ext>
            </a:extLst>
          </p:cNvPr>
          <p:cNvSpPr/>
          <p:nvPr/>
        </p:nvSpPr>
        <p:spPr>
          <a:xfrm>
            <a:off x="7970520" y="130013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14.76M</a:t>
            </a:r>
            <a:endParaRPr lang="en-US" sz="2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79736635-9830-E098-1C11-88021FF5E69C}"/>
              </a:ext>
            </a:extLst>
          </p:cNvPr>
          <p:cNvSpPr/>
          <p:nvPr/>
        </p:nvSpPr>
        <p:spPr>
          <a:xfrm>
            <a:off x="7970520" y="165674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report–drug–PT rows</a:t>
            </a:r>
            <a:endParaRPr lang="en-US" sz="95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D5864886-8BD5-5F23-F5C9-64FE7BF1ABC7}"/>
              </a:ext>
            </a:extLst>
          </p:cNvPr>
          <p:cNvSpPr/>
          <p:nvPr/>
        </p:nvSpPr>
        <p:spPr>
          <a:xfrm>
            <a:off x="9387840" y="131221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1.62M</a:t>
            </a:r>
            <a:endParaRPr lang="en-US" sz="23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2895FA8E-71C1-BF1B-D5DB-2969AEA10A94}"/>
              </a:ext>
            </a:extLst>
          </p:cNvPr>
          <p:cNvSpPr/>
          <p:nvPr/>
        </p:nvSpPr>
        <p:spPr>
          <a:xfrm>
            <a:off x="9387840" y="166882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drug–PT pairs</a:t>
            </a:r>
            <a:endParaRPr lang="en-US" sz="95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6F851589-ECBA-E8C0-D43C-57250ED97A06}"/>
              </a:ext>
            </a:extLst>
          </p:cNvPr>
          <p:cNvSpPr/>
          <p:nvPr/>
        </p:nvSpPr>
        <p:spPr>
          <a:xfrm>
            <a:off x="7542333" y="216808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6666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7,655</a:t>
            </a:r>
            <a:endParaRPr lang="en-US" sz="23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4CAC45D8-6B48-CB06-6B45-82980B9ECD99}"/>
              </a:ext>
            </a:extLst>
          </p:cNvPr>
          <p:cNvSpPr/>
          <p:nvPr/>
        </p:nvSpPr>
        <p:spPr>
          <a:xfrm>
            <a:off x="7542333" y="252469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drugs</a:t>
            </a:r>
            <a:endParaRPr lang="en-US" sz="95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ADF02D8B-DF77-DBE4-C6A2-2705FEEC2111}"/>
              </a:ext>
            </a:extLst>
          </p:cNvPr>
          <p:cNvSpPr/>
          <p:nvPr/>
        </p:nvSpPr>
        <p:spPr>
          <a:xfrm>
            <a:off x="8953500" y="215062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6666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18,838</a:t>
            </a:r>
            <a:endParaRPr lang="en-US" sz="23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D8FFC8CD-2093-C09F-15CC-23964395A747}"/>
              </a:ext>
            </a:extLst>
          </p:cNvPr>
          <p:cNvSpPr/>
          <p:nvPr/>
        </p:nvSpPr>
        <p:spPr>
          <a:xfrm>
            <a:off x="8953500" y="250724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PTs</a:t>
            </a:r>
            <a:endParaRPr lang="en-US" sz="95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055F5C35-1CE4-4968-40FF-A2FBBDCB1E9B}"/>
              </a:ext>
            </a:extLst>
          </p:cNvPr>
          <p:cNvSpPr/>
          <p:nvPr/>
        </p:nvSpPr>
        <p:spPr>
          <a:xfrm>
            <a:off x="8731504" y="6206976"/>
            <a:ext cx="2668016" cy="299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Right-skewed counts motivate shrinkage.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1: statistical</a:t>
            </a:r>
            <a:r>
              <a:rPr lang="en-US" sz="2200" b="1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r>
              <a:rPr lang="en-US" sz="2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signal detection with MGPS / EBGM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2769" y="1194681"/>
            <a:ext cx="4585335" cy="38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8A"/>
                </a:solidFill>
              </a:rPr>
              <a:t>Goal: Quantify disproportionality signals for each drug–PT pair using EBGM</a:t>
            </a:r>
          </a:p>
          <a:p>
            <a:pPr marL="0" indent="0">
              <a:buNone/>
            </a:pP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1002961" y="3331921"/>
                <a:ext cx="4937760" cy="141732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>
                <a:noAutofit/>
              </a:bodyPr>
              <a:lstStyle/>
              <a:p>
                <a:r>
                  <a:rPr lang="en-US" sz="14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- Simple reporting ratios,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𝑅𝑅</m:t>
                    </m:r>
                    <m:r>
                      <a:rPr lang="en-US" sz="14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d>
                          <m:dPr>
                            <m:ctrlPr>
                              <a:rPr lang="en-US" sz="14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𝑎</m:t>
                            </m:r>
                            <m:r>
                              <a:rPr lang="en-US" sz="14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+</m:t>
                            </m:r>
                            <m:r>
                              <a:rPr lang="en-US" sz="14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𝑏</m:t>
                            </m:r>
                          </m:e>
                        </m:d>
                        <m:d>
                          <m:dPr>
                            <m:ctrlPr>
                              <a:rPr lang="en-US" sz="14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𝑎</m:t>
                            </m:r>
                            <m:r>
                              <a:rPr lang="en-US" sz="14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+</m:t>
                            </m:r>
                            <m:r>
                              <a:rPr lang="en-US" sz="14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Aptos" pitchFamily="34" charset="-122"/>
                                <a:cs typeface="Aptos" pitchFamily="34" charset="-120"/>
                              </a:rPr>
                              <m:t>𝑐</m:t>
                            </m:r>
                          </m:e>
                        </m:d>
                        <m:r>
                          <a:rPr lang="en-US" sz="14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/</m:t>
                        </m:r>
                        <m:r>
                          <a:rPr lang="en-US" sz="14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can explode when expected counts are tiny.</a:t>
                </a:r>
              </a:p>
              <a:p>
                <a:pPr marL="285750" indent="-285750">
                  <a:buFontTx/>
                  <a:buChar char="-"/>
                </a:pPr>
                <a:endParaRPr lang="en-US" sz="1400" dirty="0"/>
              </a:p>
              <a:p>
                <a:r>
                  <a:rPr lang="en-US" sz="1400" dirty="0"/>
                  <a:t>- MGPS estimates the Empirical Bayes Geometric Mean (EBGM), shrinking unstable small-count signals toward the null (EBGM = 1).</a:t>
                </a:r>
              </a:p>
              <a:p>
                <a:endParaRPr lang="en-US" sz="1400" dirty="0"/>
              </a:p>
              <a:p>
                <a:r>
                  <a:rPr lang="en-US" sz="14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- Decision rule used here: n_reports ≥ 5 and EB05 &gt; 2.</a:t>
                </a:r>
                <a:endParaRPr lang="en-US" sz="14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961" y="3331921"/>
                <a:ext cx="4937760" cy="1417320"/>
              </a:xfrm>
              <a:prstGeom prst="rect">
                <a:avLst/>
              </a:prstGeom>
              <a:blipFill>
                <a:blip r:embed="rId3"/>
                <a:stretch>
                  <a:fillRect l="-2222" t="-15517" r="-1975" b="-2155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8255723" y="828522"/>
            <a:ext cx="1783080" cy="3758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Screening output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69604" y="132489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177,823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069604" y="168151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drug–PT pairs passed threshold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852684" y="132489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9,032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852684" y="168151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PTs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31795" y="132489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5C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3,523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831795" y="168151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drugs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767899" y="132489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75C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10.99%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767899" y="168151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survival rate from all pairs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2460" y="5458613"/>
            <a:ext cx="10561320" cy="676656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3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/>
              <a:t>Stage 1 narrows the candidate ADR search space, but the remaining signals still include non-ADR terms, </a:t>
            </a:r>
          </a:p>
          <a:p>
            <a:pPr marL="0" indent="0" algn="ctr">
              <a:buNone/>
            </a:pPr>
            <a:r>
              <a:rPr lang="en-US" sz="1500" dirty="0"/>
              <a:t>such as treatment failure and product issues, as well as events already listed in FDA labels.</a:t>
            </a:r>
          </a:p>
        </p:txBody>
      </p:sp>
      <p:sp>
        <p:nvSpPr>
          <p:cNvPr id="21" name="Text 19"/>
          <p:cNvSpPr/>
          <p:nvPr/>
        </p:nvSpPr>
        <p:spPr>
          <a:xfrm>
            <a:off x="502920" y="6464808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AIWSNYC Hackathon | FAERS signal detection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401609B-8256-F062-6E5D-AA07AAD88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184" y="1624678"/>
            <a:ext cx="2952750" cy="133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F5DFF3-DBE0-87FF-8125-FB58CF456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272" y="2270077"/>
            <a:ext cx="3857046" cy="2910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2: LLM triage of MedDRA PTs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1041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8A"/>
                </a:solidFill>
              </a:rPr>
              <a:t>Goal: retain PTs that could plausibly be adverse drug reactions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2929" y="1348438"/>
            <a:ext cx="6673933" cy="240916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FAERS records </a:t>
            </a:r>
            <a:r>
              <a:rPr lang="en-US" sz="14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adverse events (AE), not adverse reactions (ADR)</a:t>
            </a: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PTs are classified drug-agnostically into 7 categories using LLM. Then, keep PTs that belong to ADR related categories.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Kept categories: </a:t>
            </a:r>
            <a:r>
              <a:rPr lang="en-US" sz="14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CLINICAL_EVENT </a:t>
            </a: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(e.g. rash) and </a:t>
            </a:r>
            <a:r>
              <a:rPr lang="en-US" sz="140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LAB_OR_INVESTIGATION </a:t>
            </a:r>
            <a:r>
              <a:rPr lang="en-US" sz="1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(blood glucose increased.)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400" dirty="0">
                <a:solidFill>
                  <a:srgbClr val="111111"/>
                </a:solidFill>
                <a:latin typeface="Aptos" pitchFamily="34" charset="0"/>
              </a:rPr>
              <a:t>- Blocked: LACK_OF_EFFICACY (drug ineffective), MEDICATION_ERROR_OR_MISUSE (off label use), PRODUCT_OR_DEVICE_ISSUE (device malfunction), ADMINISTRATION_SITE_OR_ROUTE (infusion site pain), NONSPECIFIC_OR_CONTEXT.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rgbClr val="111111"/>
              </a:solidFill>
              <a:latin typeface="Aptos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1792" y="3858923"/>
            <a:ext cx="5085489" cy="1704142"/>
          </a:xfrm>
          <a:prstGeom prst="rect">
            <a:avLst/>
          </a:prstGeom>
          <a:solidFill>
            <a:srgbClr val="FFFFFF"/>
          </a:solidFill>
          <a:ln w="9525">
            <a:solidFill>
              <a:srgbClr val="BFC7CF"/>
            </a:solidFill>
          </a:ln>
        </p:spPr>
        <p:txBody>
          <a:bodyPr wrap="square" lIns="137160" tIns="73152" rIns="137160" bIns="73152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Exert:</a:t>
            </a:r>
          </a:p>
          <a:p>
            <a:pPr marL="0" indent="0" algn="l">
              <a:buNone/>
            </a:pP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“You are </a:t>
            </a:r>
            <a:r>
              <a:rPr lang="en-US" sz="113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senior pharmacovigilance analyst 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MedDRA expert. </a:t>
            </a:r>
            <a:r>
              <a:rPr lang="en-US" sz="113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Definitions: - Adverse Event (AE): 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</a:t>
            </a:r>
            <a:r>
              <a:rPr lang="ko-KR" alt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ko-KR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unwanted 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 </a:t>
            </a:r>
            <a:r>
              <a:rPr lang="en-US" sz="113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I have a list of PTs obtained from FAERS reports … I created the following categories to help determine which PTs could plausibly represent ADRs. Use only these </a:t>
            </a:r>
            <a:r>
              <a:rPr lang="en-US" sz="113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categories: - CLINICAL_EVENT: 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genuine sign … Goal:</a:t>
            </a:r>
          </a:p>
          <a:p>
            <a:pPr marL="0" indent="0" algn="l">
              <a:buNone/>
            </a:pP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each PT into exactly one … </a:t>
            </a:r>
            <a:r>
              <a:rPr lang="en-US" sz="113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rules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1. Make the classification drug-agnostic. </a:t>
            </a:r>
            <a:r>
              <a:rPr lang="en-US" sz="113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the following 50 PTs: 1. Drug ineffective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2. Toxicity to various agents …”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5989121" y="4031947"/>
            <a:ext cx="4884933" cy="1382583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3"/>
            </a:solidFill>
          </a:ln>
        </p:spPr>
        <p:txBody>
          <a:bodyPr wrap="square" lIns="137160" tIns="73152" rIns="137160" bIns="73152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Output schema: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{pt, pt_type, keep, reasoning}</a:t>
            </a:r>
          </a:p>
          <a:p>
            <a:pPr marL="0" indent="0" algn="l">
              <a:buNone/>
            </a:pPr>
            <a:endParaRPr lang="en-US" sz="1130" dirty="0">
              <a:solidFill>
                <a:srgbClr val="111111"/>
              </a:solidFill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130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e.g.</a:t>
            </a:r>
          </a:p>
          <a:p>
            <a:pPr marL="0" indent="0" algn="l">
              <a:buNone/>
            </a:pPr>
            <a:r>
              <a:rPr lang="en-US" sz="1130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{'pt': '</a:t>
            </a:r>
            <a:r>
              <a:rPr lang="en-US" sz="1130" dirty="0" err="1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Anaemia</a:t>
            </a:r>
            <a:r>
              <a:rPr lang="en-US" sz="1130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', '</a:t>
            </a:r>
            <a:r>
              <a:rPr lang="en-US" sz="1130" dirty="0" err="1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pt_type</a:t>
            </a:r>
            <a:r>
              <a:rPr lang="en-US" sz="1130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': 'CLINICAL_EVENT’}</a:t>
            </a:r>
          </a:p>
          <a:p>
            <a:pPr marL="0" indent="0" algn="l">
              <a:buNone/>
            </a:pPr>
            <a:r>
              <a:rPr lang="en-US" sz="1130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{'pt': 'Drug ineffective', '</a:t>
            </a:r>
            <a:r>
              <a:rPr lang="en-US" sz="1130" dirty="0" err="1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pt_type</a:t>
            </a:r>
            <a:r>
              <a:rPr lang="en-US" sz="1130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': 'LACK_OF_EFFICACY’}</a:t>
            </a:r>
          </a:p>
          <a:p>
            <a:pPr marL="0" indent="0" algn="l">
              <a:buNone/>
            </a:pPr>
            <a:r>
              <a:rPr lang="en-US" sz="1130" dirty="0">
                <a:solidFill>
                  <a:srgbClr val="111111"/>
                </a:solidFill>
                <a:ea typeface="Aptos" pitchFamily="34" charset="-122"/>
                <a:cs typeface="Aptos" pitchFamily="34" charset="-120"/>
              </a:rPr>
              <a:t>…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1150917" y="5765253"/>
            <a:ext cx="10378440" cy="429768"/>
          </a:xfrm>
          <a:prstGeom prst="rect">
            <a:avLst/>
          </a:prstGeom>
          <a:solidFill>
            <a:srgbClr val="F0EEF8"/>
          </a:solidFill>
          <a:ln w="9525">
            <a:solidFill>
              <a:srgbClr val="D3CF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/>
              <a:t>After retaining 7,881 clinical PTs, 154,041 of 177,823 EBGM signals (drug–PT pairs) remained as candidate drug–ADR pairs.</a:t>
            </a:r>
          </a:p>
        </p:txBody>
      </p:sp>
      <p:sp>
        <p:nvSpPr>
          <p:cNvPr id="10" name="Text 7"/>
          <p:cNvSpPr/>
          <p:nvPr/>
        </p:nvSpPr>
        <p:spPr>
          <a:xfrm>
            <a:off x="502920" y="6464808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AIWSNYC Hackathon | FAERS signal detection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EDBC9C-2F4D-7502-DD4F-EEBC7C5F0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332" y="1225460"/>
            <a:ext cx="4708867" cy="22701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3: LLM comparison against FDA label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80893"/>
            <a:ext cx="4646221" cy="441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8A"/>
                </a:solidFill>
              </a:rPr>
              <a:t>Question: is the signal already known (labeled) for this product?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1803404"/>
            <a:ext cx="5010912" cy="18441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r>
              <a:rPr lang="en-US" sz="13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Fetch FDA SPL label via openFDA drug/label endpoint.</a:t>
            </a:r>
            <a:endParaRPr lang="en-US" sz="1310" dirty="0"/>
          </a:p>
          <a:p>
            <a:endParaRPr lang="en-US" sz="131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3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Compare candidate AEs against label sections: indications, boxed warning, adverse reactions, etc. to classify each PTs </a:t>
            </a:r>
            <a:r>
              <a:rPr lang="en-US" sz="1310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into ‘NOVEL’, ‘ALREADY_LABELED’, and ‘DISEASE_RELATED.’</a:t>
            </a:r>
          </a:p>
          <a:p>
            <a:pPr marL="285750" indent="-285750">
              <a:buFontTx/>
              <a:buChar char="-"/>
            </a:pPr>
            <a:endParaRPr lang="en-US" sz="1310" dirty="0"/>
          </a:p>
          <a:p>
            <a:r>
              <a:rPr lang="en-US" sz="131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Drug can be pinned to one curated brand/product because labels differ by route, form, and manufacturer.</a:t>
            </a:r>
          </a:p>
          <a:p>
            <a:endParaRPr lang="en-US" sz="1310" dirty="0">
              <a:solidFill>
                <a:srgbClr val="111111"/>
              </a:solidFill>
              <a:latin typeface="Aptos" pitchFamily="34" charset="0"/>
            </a:endParaRPr>
          </a:p>
          <a:p>
            <a:r>
              <a:rPr lang="en-US" sz="1310" dirty="0"/>
              <a:t>- For the test analysis, I randomly selected </a:t>
            </a:r>
            <a:r>
              <a:rPr lang="en-US" sz="1310" dirty="0">
                <a:solidFill>
                  <a:srgbClr val="FF0000"/>
                </a:solidFill>
              </a:rPr>
              <a:t>100 drug-brand </a:t>
            </a:r>
            <a:r>
              <a:rPr lang="en-US" sz="1310" dirty="0"/>
              <a:t>pairs</a:t>
            </a:r>
          </a:p>
        </p:txBody>
      </p:sp>
      <p:sp>
        <p:nvSpPr>
          <p:cNvPr id="6" name="Text 4"/>
          <p:cNvSpPr/>
          <p:nvPr/>
        </p:nvSpPr>
        <p:spPr>
          <a:xfrm>
            <a:off x="502919" y="4132540"/>
            <a:ext cx="5425441" cy="1959341"/>
          </a:xfrm>
          <a:prstGeom prst="rect">
            <a:avLst/>
          </a:prstGeom>
          <a:solidFill>
            <a:srgbClr val="FFFFFF"/>
          </a:solidFill>
          <a:ln w="9525">
            <a:solidFill>
              <a:srgbClr val="BFC7CF"/>
            </a:solidFill>
          </a:ln>
        </p:spPr>
        <p:txBody>
          <a:bodyPr wrap="square" lIns="137160" tIns="73152" rIns="137160" bIns="73152" rtlCol="0" anchor="ctr">
            <a:noAutofit/>
          </a:bodyPr>
          <a:lstStyle/>
          <a:p>
            <a:pPr marL="0" indent="0" algn="l">
              <a:buNone/>
            </a:pPr>
            <a:r>
              <a:rPr lang="en-US" sz="1130" dirty="0"/>
              <a:t>Prompt Exert:</a:t>
            </a:r>
          </a:p>
          <a:p>
            <a:pPr marL="0" indent="0" algn="l">
              <a:buNone/>
            </a:pPr>
            <a:r>
              <a:rPr lang="en-US" sz="1130" dirty="0"/>
              <a:t>“You are a </a:t>
            </a:r>
            <a:r>
              <a:rPr lang="en-US" sz="1130" dirty="0">
                <a:solidFill>
                  <a:srgbClr val="FF0000"/>
                </a:solidFill>
              </a:rPr>
              <a:t>pharmacovigilance expert </a:t>
            </a:r>
            <a:r>
              <a:rPr lang="en-US" sz="1130" dirty="0"/>
              <a:t>comparing candidate PTs for one drug against that drug's official FDA label. … </a:t>
            </a:r>
            <a:r>
              <a:rPr lang="en-US" sz="1130" dirty="0">
                <a:solidFill>
                  <a:srgbClr val="FF0000"/>
                </a:solidFill>
              </a:rPr>
              <a:t>Background</a:t>
            </a:r>
            <a:r>
              <a:rPr lang="en-US" sz="1130" dirty="0"/>
              <a:t>: The label text is provided as reference material … Treat the ENTIRE label as the source of truth … </a:t>
            </a:r>
            <a:r>
              <a:rPr lang="en-US" sz="1130" dirty="0">
                <a:solidFill>
                  <a:srgbClr val="FF0000"/>
                </a:solidFill>
              </a:rPr>
              <a:t>Classification rules</a:t>
            </a:r>
            <a:r>
              <a:rPr lang="en-US" sz="1130" dirty="0"/>
              <a:t>: For each candidate PT, make a </a:t>
            </a:r>
            <a:r>
              <a:rPr lang="en-US" sz="1130" dirty="0">
                <a:solidFill>
                  <a:srgbClr val="FF0000"/>
                </a:solidFill>
              </a:rPr>
              <a:t>hierarchical decision </a:t>
            </a:r>
            <a:r>
              <a:rPr lang="en-US" sz="1130" dirty="0"/>
              <a:t>and assign exactly ONE status … </a:t>
            </a:r>
            <a:r>
              <a:rPr lang="en-US" sz="1130" dirty="0">
                <a:solidFill>
                  <a:srgbClr val="FF0000"/>
                </a:solidFill>
              </a:rPr>
              <a:t>1. If </a:t>
            </a:r>
            <a:r>
              <a:rPr lang="en-US" sz="1130" dirty="0"/>
              <a:t>the AE is really the drug's INDICATION … </a:t>
            </a:r>
            <a:r>
              <a:rPr lang="en-US" sz="1130" dirty="0">
                <a:solidFill>
                  <a:srgbClr val="FF0000"/>
                </a:solidFill>
              </a:rPr>
              <a:t>2. Else if </a:t>
            </a:r>
            <a:r>
              <a:rPr lang="en-US" sz="1130" dirty="0"/>
              <a:t>the label describes the AE as something the drug can cause … </a:t>
            </a:r>
            <a:r>
              <a:rPr lang="en-US" sz="1130" dirty="0">
                <a:solidFill>
                  <a:srgbClr val="FF0000"/>
                </a:solidFill>
              </a:rPr>
              <a:t>3. Else </a:t>
            </a:r>
            <a:r>
              <a:rPr lang="en-US" sz="1130" dirty="0"/>
              <a:t>-&gt; novel (a potential unlabeled ADR) … === </a:t>
            </a:r>
            <a:r>
              <a:rPr lang="en-US" sz="1130" dirty="0">
                <a:solidFill>
                  <a:srgbClr val="FF0000"/>
                </a:solidFill>
              </a:rPr>
              <a:t>FDA LABEL </a:t>
            </a:r>
            <a:r>
              <a:rPr lang="en-US" sz="1130" dirty="0"/>
              <a:t>===</a:t>
            </a:r>
          </a:p>
          <a:p>
            <a:pPr marL="0" indent="0" algn="l">
              <a:buNone/>
            </a:pPr>
            <a:r>
              <a:rPr lang="en-US" sz="1130" dirty="0"/>
              <a:t>## INDICATIONS AND USAGE 1 INDICATIONS AND USAGE ULORIC … === </a:t>
            </a:r>
            <a:r>
              <a:rPr lang="en-US" sz="1130" dirty="0">
                <a:solidFill>
                  <a:srgbClr val="FF0000"/>
                </a:solidFill>
              </a:rPr>
              <a:t>CANDIDATE ADVERSE EVENTS </a:t>
            </a:r>
            <a:r>
              <a:rPr lang="en-US" sz="1130" dirty="0"/>
              <a:t>=== 1. Cerebral artery thrombosis 2. Gouty arthritis …</a:t>
            </a:r>
          </a:p>
          <a:p>
            <a:pPr marL="0" indent="0" algn="l">
              <a:buNone/>
            </a:pP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6202093" y="4327118"/>
            <a:ext cx="4846320" cy="1581938"/>
          </a:xfrm>
          <a:prstGeom prst="rect">
            <a:avLst/>
          </a:prstGeom>
          <a:solidFill>
            <a:srgbClr val="F8EFEA"/>
          </a:solidFill>
          <a:ln w="9525">
            <a:solidFill>
              <a:srgbClr val="E7C6B6"/>
            </a:solidFill>
          </a:ln>
        </p:spPr>
        <p:txBody>
          <a:bodyPr wrap="square" lIns="137160" tIns="73152" rIns="137160" bIns="73152" rtlCol="0" anchor="ctr">
            <a:normAutofit lnSpcReduction="10000"/>
          </a:bodyPr>
          <a:lstStyle/>
          <a:p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schema:</a:t>
            </a:r>
            <a:endParaRPr lang="en-US" sz="1130" dirty="0"/>
          </a:p>
          <a:p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{"pt": "&lt;verbatim&gt;", "status": "&lt;one status&gt;", "reasoning": "&lt;one short sentence&gt;"}</a:t>
            </a:r>
          </a:p>
          <a:p>
            <a:pPr marL="0" indent="0" algn="l">
              <a:buNone/>
            </a:pPr>
            <a:endParaRPr lang="en-US" sz="1130" dirty="0">
              <a:solidFill>
                <a:srgbClr val="111111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e.g.</a:t>
            </a:r>
          </a:p>
          <a:p>
            <a:pPr marL="0" indent="0" algn="l">
              <a:buNone/>
            </a:pP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{‘pt’: ‘Cerebral artery thrombosis’, ‘</a:t>
            </a:r>
            <a:r>
              <a:rPr lang="en-US" sz="113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status’:’novel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’, ‘reasoning’: ‘The label does not mention cerebral artery </a:t>
            </a:r>
            <a:r>
              <a:rPr lang="en-US" sz="113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...’}</a:t>
            </a:r>
          </a:p>
          <a:p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{‘pt’: ‘</a:t>
            </a:r>
            <a:r>
              <a:rPr lang="en-US" sz="113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Dyslipidaemia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’, ‘status’: ‘</a:t>
            </a:r>
            <a:r>
              <a:rPr lang="en-US" sz="113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already_labeled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’, ‘reasoning’: ‘</a:t>
            </a:r>
            <a:r>
              <a:rPr lang="en-US" sz="113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Dyslipidaemia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covered under '</a:t>
            </a:r>
            <a:r>
              <a:rPr lang="en-US" sz="1130" dirty="0" err="1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hyperlipid</a:t>
            </a:r>
            <a:r>
              <a:rPr lang="en-US" sz="11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…’}</a:t>
            </a:r>
          </a:p>
        </p:txBody>
      </p:sp>
      <p:pic>
        <p:nvPicPr>
          <p:cNvPr id="8" name="Image 0" descr="/mnt/data/nb_assets/cell14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60" y="1437166"/>
            <a:ext cx="5843847" cy="2267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3951" y="3659574"/>
            <a:ext cx="3426336" cy="147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100 sampled drugs, status composition varied.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502920" y="6464808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AIWSNYC Hackathon | FAERS signal detection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4: Priority score and internal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9418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C8A"/>
                </a:solidFill>
              </a:rPr>
              <a:t>Goal: Prioritize novel signals that rank near known ADRs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672084" y="1304262"/>
                <a:ext cx="4892040" cy="1676681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>
                <a:normAutofit fontScale="92500" lnSpcReduction="20000"/>
              </a:bodyPr>
              <a:lstStyle/>
              <a:p>
                <a:r>
                  <a:rPr lang="en-US" sz="132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- </a:t>
                </a:r>
                <a:r>
                  <a:rPr lang="en-US" sz="1320" dirty="0">
                    <a:solidFill>
                      <a:srgbClr val="FF000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EB05 alone may not capture</a:t>
                </a:r>
                <a:r>
                  <a:rPr lang="en-US" sz="132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clinical seriousness, biological plausibility, literature support, or confounding, and also its model fit was unstable</a:t>
                </a:r>
              </a:p>
              <a:p>
                <a:endParaRPr lang="en-US" sz="132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sz="132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- </a:t>
                </a:r>
                <a:r>
                  <a:rPr lang="en-US" sz="1320" dirty="0">
                    <a:solidFill>
                      <a:srgbClr val="FF000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Five</a:t>
                </a:r>
                <a:r>
                  <a:rPr lang="en-US" sz="132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component </a:t>
                </a:r>
                <a:r>
                  <a:rPr lang="en-US" sz="1320" dirty="0" err="1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subscores</a:t>
                </a:r>
                <a:r>
                  <a:rPr lang="en-US" sz="132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were measured and normalized within each drug and combined.</a:t>
                </a:r>
              </a:p>
              <a:p>
                <a:pPr marL="285750" indent="-285750">
                  <a:buFontTx/>
                  <a:buChar char="-"/>
                </a:pPr>
                <a:endParaRPr lang="en-US" sz="1320" dirty="0"/>
              </a:p>
              <a:p>
                <a:r>
                  <a:rPr lang="en-US" sz="132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- </a:t>
                </a:r>
                <a:r>
                  <a:rPr lang="en-US" sz="1320" dirty="0">
                    <a:solidFill>
                      <a:srgbClr val="FF000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Evaluation</a:t>
                </a:r>
                <a:r>
                  <a:rPr lang="en-US" sz="132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: Known labeled ADRs were used as positive controls for ranking performance.</a:t>
                </a:r>
                <a:br>
                  <a:rPr lang="en-US" sz="132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</a:br>
                <a:endParaRPr lang="en-US" sz="132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r>
                  <a:rPr lang="en-US" sz="132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- lift@10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2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𝑇h𝑒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 "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𝑎𝑙𝑟𝑒𝑎𝑑𝑦</m:t>
                        </m:r>
                        <m:r>
                          <m:rPr>
                            <m:lit/>
                          </m:rP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𝑙𝑎𝑏𝑒𝑙𝑒𝑑</m:t>
                        </m:r>
                        <m:r>
                          <m:rPr>
                            <m:lit/>
                          </m:rP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"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𝑎𝑚𝑜𝑛𝑔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𝑡𝑜𝑝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 10</m:t>
                        </m:r>
                      </m:num>
                      <m:den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 "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𝑎𝑙𝑟𝑒𝑎𝑑𝑦</m:t>
                        </m:r>
                        <m:r>
                          <m:rPr>
                            <m:lit/>
                          </m:rP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𝑙𝑎𝑏𝑒𝑙𝑒𝑑</m:t>
                        </m:r>
                        <m:r>
                          <m:rPr>
                            <m:lit/>
                          </m:rP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"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/ 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32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𝑃𝑇𝑠</m:t>
                        </m:r>
                      </m:den>
                    </m:f>
                  </m:oMath>
                </a14:m>
                <a:endParaRPr lang="en-US" sz="1320" dirty="0"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84" y="1304262"/>
                <a:ext cx="4892040" cy="1676681"/>
              </a:xfrm>
              <a:prstGeom prst="rect">
                <a:avLst/>
              </a:prstGeom>
              <a:blipFill>
                <a:blip r:embed="rId3"/>
                <a:stretch>
                  <a:fillRect l="-1868" t="-145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539496" y="3323844"/>
            <a:ext cx="4846320" cy="342900"/>
          </a:xfrm>
          <a:prstGeom prst="rect">
            <a:avLst/>
          </a:prstGeom>
          <a:solidFill>
            <a:srgbClr val="F4F6F7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369564"/>
            <a:ext cx="218084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Component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62656" y="3369564"/>
            <a:ext cx="218084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11111"/>
                </a:solidFill>
              </a:rPr>
              <a:t>Operational definition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" y="3666744"/>
            <a:ext cx="4846320" cy="342900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12464"/>
            <a:ext cx="1749345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</a:rPr>
              <a:t>dispro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398569" y="3712464"/>
            <a:ext cx="2744931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11111"/>
                </a:solidFill>
              </a:rPr>
              <a:t>log(EB05)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" y="4009644"/>
            <a:ext cx="4846320" cy="342900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055364"/>
            <a:ext cx="162763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</a:rPr>
              <a:t>literature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041864" y="4055364"/>
            <a:ext cx="310163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11111"/>
                </a:solidFill>
              </a:rPr>
              <a:t>Semantic embedding similarity to FAERS-cited papers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" y="4352544"/>
            <a:ext cx="4846320" cy="342900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398264"/>
            <a:ext cx="162763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</a:rPr>
              <a:t>severity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2221992" y="4398264"/>
            <a:ext cx="29215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11111"/>
                </a:solidFill>
              </a:rPr>
              <a:t>Semantic embedding similarity to severe outcomes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" y="4695444"/>
            <a:ext cx="4846320" cy="342900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741164"/>
            <a:ext cx="162763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</a:rPr>
              <a:t>plausibility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2467992" y="4741164"/>
            <a:ext cx="267550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11111"/>
                </a:solidFill>
              </a:rPr>
              <a:t>similarity to drug’s labeled ADR profile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" y="5038344"/>
            <a:ext cx="4846320" cy="342900"/>
          </a:xfrm>
          <a:prstGeom prst="rect">
            <a:avLst/>
          </a:prstGeom>
          <a:solidFill>
            <a:srgbClr val="FFFFFF"/>
          </a:solidFill>
          <a:ln w="5080">
            <a:solidFill>
              <a:srgbClr val="D9D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084064"/>
            <a:ext cx="162763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</a:rPr>
              <a:t>low confounding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2276856" y="5084064"/>
            <a:ext cx="286664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11111"/>
                </a:solidFill>
              </a:rPr>
              <a:t>fewer co-suspect drugs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" y="5685282"/>
            <a:ext cx="11113954" cy="475488"/>
          </a:xfrm>
          <a:prstGeom prst="rect">
            <a:avLst/>
          </a:prstGeom>
          <a:solidFill>
            <a:srgbClr val="EAF4EF"/>
          </a:solidFill>
          <a:ln w="9525">
            <a:solidFill>
              <a:srgbClr val="C6DC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summary: 93 drugs evaluated. Median lift@10 was 1.32 for the five-component score vs 1.00 for EB05 alone; lift &gt; 1 in 78% vs 46% of drugs.</a:t>
            </a:r>
            <a:endParaRPr lang="en-US" sz="1330" dirty="0"/>
          </a:p>
        </p:txBody>
      </p:sp>
      <p:sp>
        <p:nvSpPr>
          <p:cNvPr id="26" name="Text 23"/>
          <p:cNvSpPr/>
          <p:nvPr/>
        </p:nvSpPr>
        <p:spPr>
          <a:xfrm>
            <a:off x="502920" y="6464808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AIWSNYC Hackathon | FAERS signal detection</a:t>
            </a:r>
            <a:endParaRPr lang="en-US" sz="7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91A6B7-8C2C-042B-1868-E8CB54F08084}"/>
              </a:ext>
            </a:extLst>
          </p:cNvPr>
          <p:cNvSpPr txBox="1"/>
          <p:nvPr/>
        </p:nvSpPr>
        <p:spPr>
          <a:xfrm>
            <a:off x="5730832" y="3666744"/>
            <a:ext cx="17203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- For example, use an LLM embedding model to calculate the cosine similarity between “rash” and “death.”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716F3C4-75DD-DB68-3E14-C8180E55A675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5226854" y="4174576"/>
            <a:ext cx="503978" cy="360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28B004E6-96A5-5B1A-B679-8A669D725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897" y="1214421"/>
            <a:ext cx="5699368" cy="113731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DE9D0B3-7F1F-BEEF-F6B4-F96309B87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553" y="2637489"/>
            <a:ext cx="4051951" cy="27236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 &amp;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1134" y="1264603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6B55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1134" y="1676083"/>
            <a:ext cx="4945306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- Built an automatic, LLM-assisted pipeline from FAERS reports to ranked candidates for potentially unlabeled ADRs.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- LLM stages transform noisy PTs and long product labels into structured, reviewable decisions using its semantic understanding.</a:t>
            </a:r>
          </a:p>
          <a:p>
            <a:endParaRPr lang="en-US" sz="1400" dirty="0"/>
          </a:p>
          <a:p>
            <a:r>
              <a:rPr lang="en-US" sz="1400" dirty="0"/>
              <a:t>- </a:t>
            </a:r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The final score appears more useful than EB05 alone for ranking known ADRs near the top.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85562" y="1264603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5C35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12994" y="1676083"/>
            <a:ext cx="4945306" cy="41634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- LLM-based PT triage and label comparison were not closely validated. In fact, the threshold for considering two terms equivalent needs further investigation, </a:t>
            </a:r>
            <a:b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lvl="1"/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- e.g. Acute kidney injury (novel) vs Renal failure (labeled) for febuxostat.</a:t>
            </a:r>
          </a:p>
          <a:p>
            <a:endParaRPr lang="en-US" sz="14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- Accounting for brand, route, and formulation requires more complete product-level data.</a:t>
            </a:r>
          </a:p>
          <a:p>
            <a:pPr marL="171450" indent="-171450">
              <a:buFontTx/>
              <a:buChar char="-"/>
            </a:pPr>
            <a:endParaRPr lang="en-US" sz="14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- EBGM hyperparameter fitting was unstable; therefore, EB05 should be used only for screening and approximate ranking.</a:t>
            </a:r>
          </a:p>
          <a:p>
            <a:endParaRPr lang="en-US" sz="14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- Equal score weights are untuned, and it can be learned from data and evaluated by each component (ablation study).</a:t>
            </a:r>
          </a:p>
          <a:p>
            <a:endParaRPr lang="en-US" sz="14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400" dirty="0">
                <a:latin typeface="Aptos" pitchFamily="34" charset="0"/>
                <a:ea typeface="Aptos" pitchFamily="34" charset="-122"/>
                <a:cs typeface="Aptos" pitchFamily="34" charset="-120"/>
              </a:rPr>
              <a:t>- Literature, plausibility, and severity scores currently rely only on information within FAERS reports, but could be extended through automated PubMed searches for supporting evidence.</a:t>
            </a:r>
          </a:p>
        </p:txBody>
      </p:sp>
      <p:sp>
        <p:nvSpPr>
          <p:cNvPr id="18" name="Text 16"/>
          <p:cNvSpPr/>
          <p:nvPr/>
        </p:nvSpPr>
        <p:spPr>
          <a:xfrm>
            <a:off x="-1644284" y="4772900"/>
            <a:ext cx="7130684" cy="147640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/>
            <a:r>
              <a:rPr lang="en-US" sz="1200" dirty="0"/>
              <a:t>Reference:</a:t>
            </a:r>
          </a:p>
          <a:p>
            <a:pPr algn="r"/>
            <a:r>
              <a:rPr lang="en-US" sz="1200" dirty="0"/>
              <a:t>ICH E2A guideline</a:t>
            </a:r>
          </a:p>
          <a:p>
            <a:pPr marL="0" indent="0" algn="r">
              <a:buNone/>
            </a:pPr>
            <a:r>
              <a:rPr lang="en-US" sz="1200" dirty="0" err="1"/>
              <a:t>openEBGM</a:t>
            </a:r>
            <a:r>
              <a:rPr lang="en-US" sz="1200" dirty="0"/>
              <a:t>: Canida T, Ihrie J (2017) The R Journal</a:t>
            </a:r>
          </a:p>
          <a:p>
            <a:pPr marL="0" indent="0" algn="r">
              <a:buNone/>
            </a:pPr>
            <a:r>
              <a:rPr lang="en-US" sz="1200" dirty="0"/>
              <a:t>Data Mining at FDA -- White Paper</a:t>
            </a:r>
          </a:p>
        </p:txBody>
      </p:sp>
      <p:sp>
        <p:nvSpPr>
          <p:cNvPr id="19" name="Text 17"/>
          <p:cNvSpPr/>
          <p:nvPr/>
        </p:nvSpPr>
        <p:spPr>
          <a:xfrm>
            <a:off x="502920" y="6464808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AIWSNYC Hackathon | FAERS signal detection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1426</Words>
  <Application>Microsoft Office PowerPoint</Application>
  <PresentationFormat>Widescreen</PresentationFormat>
  <Paragraphs>160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LLM-assisted signal detection in FAERS</dc:title>
  <dc:subject>AIWSNYC Hackathon: LLM-assisted signal detection in FAERS</dc:subject>
  <dc:creator>Sojin Kim</dc:creator>
  <cp:lastModifiedBy>Kang, Eunchong</cp:lastModifiedBy>
  <cp:revision>12</cp:revision>
  <dcterms:created xsi:type="dcterms:W3CDTF">2026-07-14T23:05:28Z</dcterms:created>
  <dcterms:modified xsi:type="dcterms:W3CDTF">2026-07-15T23:16:27Z</dcterms:modified>
</cp:coreProperties>
</file>